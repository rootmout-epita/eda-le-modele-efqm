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Proxima Nova"/>
      <p:regular r:id="rId54"/>
      <p:bold r:id="rId55"/>
      <p:italic r:id="rId56"/>
      <p:boldItalic r:id="rId57"/>
    </p:embeddedFont>
    <p:embeddedFont>
      <p:font typeface="Robot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2FFE07-3AE0-4F52-82CA-C47B32F8FDE8}">
  <a:tblStyle styleId="{A72FFE07-3AE0-4F52-82CA-C47B32F8FD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Robot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ProximaNova-bold.fntdata"/><Relationship Id="rId10" Type="http://schemas.openxmlformats.org/officeDocument/2006/relationships/slide" Target="slides/slide4.xml"/><Relationship Id="rId54" Type="http://schemas.openxmlformats.org/officeDocument/2006/relationships/font" Target="fonts/ProximaNova-regular.fntdata"/><Relationship Id="rId13" Type="http://schemas.openxmlformats.org/officeDocument/2006/relationships/slide" Target="slides/slide7.xml"/><Relationship Id="rId57" Type="http://schemas.openxmlformats.org/officeDocument/2006/relationships/font" Target="fonts/ProximaNova-boldItalic.fntdata"/><Relationship Id="rId12" Type="http://schemas.openxmlformats.org/officeDocument/2006/relationships/slide" Target="slides/slide6.xml"/><Relationship Id="rId56" Type="http://schemas.openxmlformats.org/officeDocument/2006/relationships/font" Target="fonts/ProximaNova-italic.fntdata"/><Relationship Id="rId15" Type="http://schemas.openxmlformats.org/officeDocument/2006/relationships/slide" Target="slides/slide9.xml"/><Relationship Id="rId59" Type="http://schemas.openxmlformats.org/officeDocument/2006/relationships/font" Target="fonts/Roboto-bold.fntdata"/><Relationship Id="rId14" Type="http://schemas.openxmlformats.org/officeDocument/2006/relationships/slide" Target="slides/slide8.xml"/><Relationship Id="rId58" Type="http://schemas.openxmlformats.org/officeDocument/2006/relationships/font" Target="fonts/Robot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d10308a2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d10308a2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d10308a2f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d10308a2f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d22e51946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d22e51946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d22e51946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d22e51946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da093b5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da093b5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da093b50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da093b50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cda093b50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cda093b50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da093b50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da093b50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da093b50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da093b50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cda093b50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cda093b50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cda093b50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cda093b50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d10308a2f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d10308a2f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d10308a2f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d10308a2f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d10308a2f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d10308a2f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d22e51946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d22e51946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22e51946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22e51946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d22e51946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d22e5194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d22e51946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d22e51946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d22e51946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d22e51946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d22e51946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d22e51946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d22e51946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d22e51946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22e51946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22e51946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22e51946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d22e51946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d10308a2f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d10308a2f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d22e51946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d22e51946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10308a2f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10308a2f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d10308a2f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d10308a2f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d22e51946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d22e51946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domaine de la valeur :</a:t>
            </a:r>
            <a:br>
              <a:rPr lang="fr"/>
            </a:br>
            <a:r>
              <a:rPr lang="fr"/>
              <a:t>je vais prendre l’exemple de l’industrie automobile : son domaine est dans les transports, c’est un exemple un peu bateau</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22e51946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22e51946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d22e51946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d22e51946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d22e51946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d22e51946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d22e51946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d22e51946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d22e51946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d22e51946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22e51946e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d22e51946e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d10308a2f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d10308a2f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d22e51946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d22e51946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d10308a2f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d10308a2f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d22e51946e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d22e51946e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d22e51946e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d22e51946e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d22e51946e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d22e51946e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d22e51946e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d22e51946e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d22e51946e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d22e51946e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d22e51946e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d22e51946e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d22e51946e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d22e51946e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d10308a2f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d10308a2f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d22e51946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d22e51946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3967975" y="389598"/>
            <a:ext cx="4900775" cy="4364326"/>
          </a:xfrm>
          <a:prstGeom prst="rect">
            <a:avLst/>
          </a:prstGeom>
          <a:noFill/>
          <a:ln>
            <a:noFill/>
          </a:ln>
        </p:spPr>
      </p:pic>
      <p:sp>
        <p:nvSpPr>
          <p:cNvPr id="11" name="Google Shape;11;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cxnSp>
        <p:nvCxnSpPr>
          <p:cNvPr id="13" name="Google Shape;13;p2"/>
          <p:cNvCxnSpPr/>
          <p:nvPr/>
        </p:nvCxnSpPr>
        <p:spPr>
          <a:xfrm>
            <a:off x="0" y="2998150"/>
            <a:ext cx="9144000" cy="0"/>
          </a:xfrm>
          <a:prstGeom prst="straightConnector1">
            <a:avLst/>
          </a:prstGeom>
          <a:noFill/>
          <a:ln cap="flat" cmpd="sng" w="19050">
            <a:solidFill>
              <a:srgbClr val="4A86E8"/>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rgbClr val="4A86E8"/>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4A86E8"/>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rgbClr val="4A86E8"/>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5.jp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7.xml"/><Relationship Id="rId3" Type="http://schemas.openxmlformats.org/officeDocument/2006/relationships/hyperlink" Target="https://fr.wikipedia.org/wiki/European_Foundation_for_Quality_Management" TargetMode="External"/><Relationship Id="rId4" Type="http://schemas.openxmlformats.org/officeDocument/2006/relationships/hyperlink" Target="https://www.afnor.org/actualites/efqm-comment-ca-marche/" TargetMode="External"/><Relationship Id="rId10" Type="http://schemas.openxmlformats.org/officeDocument/2006/relationships/hyperlink" Target="https://www.efqm.org/about/" TargetMode="External"/><Relationship Id="rId9" Type="http://schemas.openxmlformats.org/officeDocument/2006/relationships/hyperlink" Target="https://fr.wikipedia.org/wiki/R%C3%A9cession_du_d%C3%A9but_des_ann%C3%A9es_1980" TargetMode="External"/><Relationship Id="rId5" Type="http://schemas.openxmlformats.org/officeDocument/2006/relationships/hyperlink" Target="https://www.youtube.com/watch?v=gwLggvVTJoM&amp;t=2118s" TargetMode="External"/><Relationship Id="rId6" Type="http://schemas.openxmlformats.org/officeDocument/2006/relationships/hyperlink" Target="https://www.youtube.com/watch?v=OkqEL51spLc&amp;t=34s" TargetMode="External"/><Relationship Id="rId7" Type="http://schemas.openxmlformats.org/officeDocument/2006/relationships/hyperlink" Target="https://www.afnor.org/wp-content/uploads/2020/02/livre-efqm.pdf" TargetMode="External"/><Relationship Id="rId8" Type="http://schemas.openxmlformats.org/officeDocument/2006/relationships/hyperlink" Target="http://www.qualiteperformance.org/comprendre-la-qualite/referentiels-de-management-l-efqm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770"/>
              <a:buNone/>
            </a:pPr>
            <a:r>
              <a:rPr lang="fr" sz="1110">
                <a:solidFill>
                  <a:srgbClr val="4A86E8"/>
                </a:solidFill>
                <a:latin typeface="Roboto"/>
                <a:ea typeface="Roboto"/>
                <a:cs typeface="Roboto"/>
                <a:sym typeface="Roboto"/>
              </a:rPr>
              <a:t>Groupe n°3</a:t>
            </a:r>
            <a:br>
              <a:rPr lang="fr" sz="1110">
                <a:solidFill>
                  <a:srgbClr val="FFFFFF"/>
                </a:solidFill>
                <a:latin typeface="Roboto"/>
                <a:ea typeface="Roboto"/>
                <a:cs typeface="Roboto"/>
                <a:sym typeface="Roboto"/>
              </a:rPr>
            </a:br>
            <a:r>
              <a:rPr lang="fr" sz="1110">
                <a:solidFill>
                  <a:srgbClr val="FFFFFF"/>
                </a:solidFill>
                <a:latin typeface="Roboto"/>
                <a:ea typeface="Roboto"/>
                <a:cs typeface="Roboto"/>
                <a:sym typeface="Roboto"/>
              </a:rPr>
              <a:t>Melchior DE ROQUEFEUIL</a:t>
            </a:r>
            <a:endParaRPr sz="1110">
              <a:solidFill>
                <a:srgbClr val="FFFFFF"/>
              </a:solidFill>
              <a:latin typeface="Roboto"/>
              <a:ea typeface="Roboto"/>
              <a:cs typeface="Roboto"/>
              <a:sym typeface="Roboto"/>
            </a:endParaRPr>
          </a:p>
          <a:p>
            <a:pPr indent="0" lvl="0" marL="0" rtl="0" algn="l">
              <a:lnSpc>
                <a:spcPct val="115000"/>
              </a:lnSpc>
              <a:spcBef>
                <a:spcPts val="400"/>
              </a:spcBef>
              <a:spcAft>
                <a:spcPts val="0"/>
              </a:spcAft>
              <a:buSzPts val="770"/>
              <a:buNone/>
            </a:pPr>
            <a:r>
              <a:rPr lang="fr" sz="1110">
                <a:solidFill>
                  <a:srgbClr val="FFFFFF"/>
                </a:solidFill>
                <a:latin typeface="Roboto"/>
                <a:ea typeface="Roboto"/>
                <a:cs typeface="Roboto"/>
                <a:sym typeface="Roboto"/>
              </a:rPr>
              <a:t>Pierre KELBERT</a:t>
            </a:r>
            <a:endParaRPr sz="1110">
              <a:solidFill>
                <a:srgbClr val="FFFFFF"/>
              </a:solidFill>
              <a:latin typeface="Roboto"/>
              <a:ea typeface="Roboto"/>
              <a:cs typeface="Roboto"/>
              <a:sym typeface="Roboto"/>
            </a:endParaRPr>
          </a:p>
          <a:p>
            <a:pPr indent="0" lvl="0" marL="0" rtl="0" algn="l">
              <a:lnSpc>
                <a:spcPct val="115000"/>
              </a:lnSpc>
              <a:spcBef>
                <a:spcPts val="400"/>
              </a:spcBef>
              <a:spcAft>
                <a:spcPts val="400"/>
              </a:spcAft>
              <a:buSzPts val="770"/>
              <a:buNone/>
            </a:pPr>
            <a:r>
              <a:rPr lang="fr" sz="1110">
                <a:solidFill>
                  <a:srgbClr val="FFFFFF"/>
                </a:solidFill>
                <a:latin typeface="Roboto"/>
                <a:ea typeface="Roboto"/>
                <a:cs typeface="Roboto"/>
                <a:sym typeface="Roboto"/>
              </a:rPr>
              <a:t>Marc SCHMITT</a:t>
            </a:r>
            <a:endParaRPr sz="1110">
              <a:solidFill>
                <a:srgbClr val="FFFFFF"/>
              </a:solidFill>
              <a:latin typeface="Roboto"/>
              <a:ea typeface="Roboto"/>
              <a:cs typeface="Roboto"/>
              <a:sym typeface="Roboto"/>
            </a:endParaRPr>
          </a:p>
        </p:txBody>
      </p:sp>
      <p:pic>
        <p:nvPicPr>
          <p:cNvPr id="60" name="Google Shape;60;p13"/>
          <p:cNvPicPr preferRelativeResize="0"/>
          <p:nvPr/>
        </p:nvPicPr>
        <p:blipFill>
          <a:blip r:embed="rId3">
            <a:alphaModFix/>
          </a:blip>
          <a:stretch>
            <a:fillRect/>
          </a:stretch>
        </p:blipFill>
        <p:spPr>
          <a:xfrm>
            <a:off x="586650" y="985850"/>
            <a:ext cx="2807048" cy="1735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1817126" y="250336"/>
            <a:ext cx="5509750" cy="4490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490250" y="526350"/>
            <a:ext cx="5797500" cy="409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4800">
                <a:solidFill>
                  <a:srgbClr val="FFFFFF"/>
                </a:solidFill>
                <a:highlight>
                  <a:srgbClr val="202729"/>
                </a:highlight>
                <a:latin typeface="Proxima Nova"/>
                <a:ea typeface="Proxima Nova"/>
                <a:cs typeface="Proxima Nova"/>
                <a:sym typeface="Proxima Nova"/>
              </a:rPr>
              <a:t>EFQM</a:t>
            </a:r>
            <a:endParaRPr sz="4800">
              <a:solidFill>
                <a:srgbClr val="FFFFFF"/>
              </a:solidFill>
              <a:highlight>
                <a:srgbClr val="202729"/>
              </a:highlight>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202729"/>
              </a:solidFill>
              <a:latin typeface="Proxima Nova"/>
              <a:ea typeface="Proxima Nova"/>
              <a:cs typeface="Proxima Nova"/>
              <a:sym typeface="Proxima Nova"/>
            </a:endParaRPr>
          </a:p>
          <a:p>
            <a:pPr indent="0" lvl="0" marL="0" rtl="0" algn="l">
              <a:spcBef>
                <a:spcPts val="0"/>
              </a:spcBef>
              <a:spcAft>
                <a:spcPts val="0"/>
              </a:spcAft>
              <a:buNone/>
            </a:pPr>
            <a:r>
              <a:rPr b="1" lang="fr">
                <a:solidFill>
                  <a:srgbClr val="202729"/>
                </a:solidFill>
                <a:latin typeface="Proxima Nova"/>
                <a:ea typeface="Proxima Nova"/>
                <a:cs typeface="Proxima Nova"/>
                <a:sym typeface="Proxima Nova"/>
              </a:rPr>
              <a:t>E</a:t>
            </a:r>
            <a:r>
              <a:rPr lang="fr">
                <a:solidFill>
                  <a:srgbClr val="202729"/>
                </a:solidFill>
                <a:latin typeface="Proxima Nova"/>
                <a:ea typeface="Proxima Nova"/>
                <a:cs typeface="Proxima Nova"/>
                <a:sym typeface="Proxima Nova"/>
              </a:rPr>
              <a:t>uropean </a:t>
            </a:r>
            <a:r>
              <a:rPr b="1" lang="fr">
                <a:solidFill>
                  <a:srgbClr val="202729"/>
                </a:solidFill>
                <a:latin typeface="Proxima Nova"/>
                <a:ea typeface="Proxima Nova"/>
                <a:cs typeface="Proxima Nova"/>
                <a:sym typeface="Proxima Nova"/>
              </a:rPr>
              <a:t>F</a:t>
            </a:r>
            <a:r>
              <a:rPr lang="fr">
                <a:solidFill>
                  <a:srgbClr val="202729"/>
                </a:solidFill>
                <a:latin typeface="Proxima Nova"/>
                <a:ea typeface="Proxima Nova"/>
                <a:cs typeface="Proxima Nova"/>
                <a:sym typeface="Proxima Nova"/>
              </a:rPr>
              <a:t>oundation for </a:t>
            </a:r>
            <a:r>
              <a:rPr b="1" lang="fr">
                <a:solidFill>
                  <a:srgbClr val="202729"/>
                </a:solidFill>
                <a:latin typeface="Proxima Nova"/>
                <a:ea typeface="Proxima Nova"/>
                <a:cs typeface="Proxima Nova"/>
                <a:sym typeface="Proxima Nova"/>
              </a:rPr>
              <a:t>Q</a:t>
            </a:r>
            <a:r>
              <a:rPr lang="fr">
                <a:solidFill>
                  <a:srgbClr val="202729"/>
                </a:solidFill>
                <a:latin typeface="Proxima Nova"/>
                <a:ea typeface="Proxima Nova"/>
                <a:cs typeface="Proxima Nova"/>
                <a:sym typeface="Proxima Nova"/>
              </a:rPr>
              <a:t>uality </a:t>
            </a:r>
            <a:r>
              <a:rPr b="1" lang="fr">
                <a:solidFill>
                  <a:srgbClr val="202729"/>
                </a:solidFill>
                <a:latin typeface="Proxima Nova"/>
                <a:ea typeface="Proxima Nova"/>
                <a:cs typeface="Proxima Nova"/>
                <a:sym typeface="Proxima Nova"/>
              </a:rPr>
              <a:t>M</a:t>
            </a:r>
            <a:r>
              <a:rPr lang="fr">
                <a:solidFill>
                  <a:srgbClr val="202729"/>
                </a:solidFill>
                <a:latin typeface="Proxima Nova"/>
                <a:ea typeface="Proxima Nova"/>
                <a:cs typeface="Proxima Nova"/>
                <a:sym typeface="Proxima Nova"/>
              </a:rPr>
              <a:t>anagement</a:t>
            </a:r>
            <a:endParaRPr>
              <a:solidFill>
                <a:srgbClr val="202729"/>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202729"/>
              </a:solidFill>
              <a:latin typeface="Proxima Nova"/>
              <a:ea typeface="Proxima Nova"/>
              <a:cs typeface="Proxima Nova"/>
              <a:sym typeface="Proxima Nova"/>
            </a:endParaRPr>
          </a:p>
          <a:p>
            <a:pPr indent="0" lvl="0" marL="0" rtl="0" algn="l">
              <a:spcBef>
                <a:spcPts val="0"/>
              </a:spcBef>
              <a:spcAft>
                <a:spcPts val="0"/>
              </a:spcAft>
              <a:buNone/>
            </a:pPr>
            <a:r>
              <a:rPr lang="fr">
                <a:solidFill>
                  <a:srgbClr val="202729"/>
                </a:solidFill>
                <a:latin typeface="Proxima Nova"/>
                <a:ea typeface="Proxima Nova"/>
                <a:cs typeface="Proxima Nova"/>
                <a:sym typeface="Proxima Nova"/>
              </a:rPr>
              <a:t>L’EFQM est un organisme innovant, à but non lucratif, qui offre aux organisations et aux professionnels des opportunités de développement, de réseau et d’échanges, des analyses de données et des connaissances inspirantes basées sur une compréhension fine du monde économique actuel.</a:t>
            </a:r>
            <a:r>
              <a:rPr lang="fr">
                <a:solidFill>
                  <a:srgbClr val="202729"/>
                </a:solidFill>
                <a:latin typeface="Proxima Nova"/>
                <a:ea typeface="Proxima Nova"/>
                <a:cs typeface="Proxima Nova"/>
                <a:sym typeface="Proxima Nova"/>
              </a:rPr>
              <a:t> </a:t>
            </a:r>
            <a:r>
              <a:rPr i="1" lang="fr" sz="1200">
                <a:solidFill>
                  <a:srgbClr val="202729"/>
                </a:solidFill>
                <a:latin typeface="Proxima Nova"/>
                <a:ea typeface="Proxima Nova"/>
                <a:cs typeface="Proxima Nova"/>
                <a:sym typeface="Proxima Nova"/>
              </a:rPr>
              <a:t>- Rapport public 2020, EFQM Foundation</a:t>
            </a:r>
            <a:endParaRPr>
              <a:solidFill>
                <a:srgbClr val="202729"/>
              </a:solidFill>
              <a:latin typeface="Proxima Nova"/>
              <a:ea typeface="Proxima Nova"/>
              <a:cs typeface="Proxima Nova"/>
              <a:sym typeface="Proxima Nova"/>
            </a:endParaRPr>
          </a:p>
          <a:p>
            <a:pPr indent="0" lvl="0" marL="0" rtl="0" algn="l">
              <a:spcBef>
                <a:spcPts val="0"/>
              </a:spcBef>
              <a:spcAft>
                <a:spcPts val="0"/>
              </a:spcAft>
              <a:buNone/>
            </a:pPr>
            <a:r>
              <a:t/>
            </a:r>
            <a:endParaRPr i="1" sz="1100">
              <a:solidFill>
                <a:srgbClr val="202729"/>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Sommaire</a:t>
            </a:r>
            <a:endParaRPr/>
          </a:p>
        </p:txBody>
      </p:sp>
      <p:sp>
        <p:nvSpPr>
          <p:cNvPr id="81" name="Google Shape;81;p17"/>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a:t>
            </a:r>
            <a:endParaRPr/>
          </a:p>
        </p:txBody>
      </p:sp>
      <p:sp>
        <p:nvSpPr>
          <p:cNvPr id="82" name="Google Shape;82;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Clr>
                <a:srgbClr val="4A86E8"/>
              </a:buClr>
              <a:buSzPts val="1800"/>
              <a:buAutoNum type="arabicPeriod"/>
            </a:pPr>
            <a:r>
              <a:rPr lang="fr"/>
              <a:t>Les débuts de l’EFQM</a:t>
            </a:r>
            <a:endParaRPr/>
          </a:p>
          <a:p>
            <a:pPr indent="-342900" lvl="0" marL="457200" rtl="0" algn="l">
              <a:lnSpc>
                <a:spcPct val="150000"/>
              </a:lnSpc>
              <a:spcBef>
                <a:spcPts val="0"/>
              </a:spcBef>
              <a:spcAft>
                <a:spcPts val="0"/>
              </a:spcAft>
              <a:buClr>
                <a:srgbClr val="4A86E8"/>
              </a:buClr>
              <a:buSzPts val="1800"/>
              <a:buAutoNum type="arabicPeriod"/>
            </a:pPr>
            <a:r>
              <a:rPr lang="fr"/>
              <a:t>L’élaboration de la version 2020</a:t>
            </a:r>
            <a:endParaRPr/>
          </a:p>
          <a:p>
            <a:pPr indent="-342900" lvl="0" marL="457200" rtl="0" algn="l">
              <a:lnSpc>
                <a:spcPct val="150000"/>
              </a:lnSpc>
              <a:spcBef>
                <a:spcPts val="0"/>
              </a:spcBef>
              <a:spcAft>
                <a:spcPts val="0"/>
              </a:spcAft>
              <a:buClr>
                <a:srgbClr val="4A86E8"/>
              </a:buClr>
              <a:buSzPts val="1800"/>
              <a:buAutoNum type="arabicPeriod"/>
            </a:pPr>
            <a:r>
              <a:rPr lang="fr"/>
              <a:t>Présentation de l’EFQM 2020</a:t>
            </a:r>
            <a:endParaRPr/>
          </a:p>
          <a:p>
            <a:pPr indent="-342900" lvl="0" marL="457200" rtl="0" algn="l">
              <a:lnSpc>
                <a:spcPct val="150000"/>
              </a:lnSpc>
              <a:spcBef>
                <a:spcPts val="0"/>
              </a:spcBef>
              <a:spcAft>
                <a:spcPts val="0"/>
              </a:spcAft>
              <a:buClr>
                <a:srgbClr val="4A86E8"/>
              </a:buClr>
              <a:buSzPts val="1800"/>
              <a:buAutoNum type="arabicPeriod"/>
            </a:pPr>
            <a:r>
              <a:rPr lang="fr"/>
              <a:t>L’outil de diagnostic RADAR</a:t>
            </a:r>
            <a:endParaRPr/>
          </a:p>
          <a:p>
            <a:pPr indent="-342900" lvl="0" marL="457200" rtl="0" algn="l">
              <a:lnSpc>
                <a:spcPct val="150000"/>
              </a:lnSpc>
              <a:spcBef>
                <a:spcPts val="0"/>
              </a:spcBef>
              <a:spcAft>
                <a:spcPts val="0"/>
              </a:spcAft>
              <a:buClr>
                <a:srgbClr val="4A86E8"/>
              </a:buClr>
              <a:buSzPts val="1800"/>
              <a:buAutoNum type="arabicPeriod"/>
            </a:pPr>
            <a:r>
              <a:rPr lang="fr"/>
              <a:t>Les prix et récompenses</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457200" lvl="0" marL="457200" rtl="0" algn="l">
              <a:spcBef>
                <a:spcPts val="0"/>
              </a:spcBef>
              <a:spcAft>
                <a:spcPts val="0"/>
              </a:spcAft>
              <a:buSzPts val="3600"/>
              <a:buAutoNum type="arabicPeriod"/>
            </a:pPr>
            <a:r>
              <a:rPr lang="fr"/>
              <a:t>Les débuts de l’EFQM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Récession économique du début des années 1980</a:t>
            </a:r>
            <a:endParaRPr/>
          </a:p>
        </p:txBody>
      </p:sp>
      <p:sp>
        <p:nvSpPr>
          <p:cNvPr id="93" name="Google Shape;93;p19"/>
          <p:cNvSpPr txBox="1"/>
          <p:nvPr>
            <p:ph idx="1" type="body"/>
          </p:nvPr>
        </p:nvSpPr>
        <p:spPr>
          <a:xfrm>
            <a:off x="311700" y="1152475"/>
            <a:ext cx="8167800" cy="3416400"/>
          </a:xfrm>
          <a:prstGeom prst="rect">
            <a:avLst/>
          </a:prstGeom>
        </p:spPr>
        <p:txBody>
          <a:bodyPr anchorCtr="0" anchor="t" bIns="91425" lIns="91425" spcFirstLastPara="1" rIns="91425" wrap="square" tIns="91425">
            <a:normAutofit lnSpcReduction="20000"/>
          </a:bodyPr>
          <a:lstStyle/>
          <a:p>
            <a:pPr indent="-342900" lvl="0" marL="457200" rtl="0" algn="l">
              <a:lnSpc>
                <a:spcPct val="150000"/>
              </a:lnSpc>
              <a:spcBef>
                <a:spcPts val="0"/>
              </a:spcBef>
              <a:spcAft>
                <a:spcPts val="0"/>
              </a:spcAft>
              <a:buSzPts val="1800"/>
              <a:buChar char="●"/>
            </a:pPr>
            <a:r>
              <a:rPr lang="fr"/>
              <a:t>Affecte les pays développés de la fin des années 1970 au début des années 1980</a:t>
            </a:r>
            <a:endParaRPr/>
          </a:p>
          <a:p>
            <a:pPr indent="-342900" lvl="0" marL="457200" rtl="0" algn="l">
              <a:lnSpc>
                <a:spcPct val="150000"/>
              </a:lnSpc>
              <a:spcBef>
                <a:spcPts val="0"/>
              </a:spcBef>
              <a:spcAft>
                <a:spcPts val="0"/>
              </a:spcAft>
              <a:buSzPts val="1800"/>
              <a:buChar char="●"/>
            </a:pPr>
            <a:r>
              <a:rPr lang="fr"/>
              <a:t>Reprise rapide pour les États-Unis et le Japon</a:t>
            </a:r>
            <a:endParaRPr/>
          </a:p>
          <a:p>
            <a:pPr indent="-342900" lvl="0" marL="457200" rtl="0" algn="l">
              <a:lnSpc>
                <a:spcPct val="150000"/>
              </a:lnSpc>
              <a:spcBef>
                <a:spcPts val="0"/>
              </a:spcBef>
              <a:spcAft>
                <a:spcPts val="0"/>
              </a:spcAft>
              <a:buSzPts val="1800"/>
              <a:buChar char="●"/>
            </a:pPr>
            <a:r>
              <a:rPr lang="fr"/>
              <a:t>Chômage élevé jusqu’à </a:t>
            </a:r>
            <a:r>
              <a:rPr b="1" lang="fr"/>
              <a:t>1985</a:t>
            </a:r>
            <a:r>
              <a:rPr lang="fr"/>
              <a:t> en Europe</a:t>
            </a:r>
            <a:endParaRPr/>
          </a:p>
          <a:p>
            <a:pPr indent="-342900" lvl="0" marL="457200" rtl="0" algn="l">
              <a:lnSpc>
                <a:spcPct val="150000"/>
              </a:lnSpc>
              <a:spcBef>
                <a:spcPts val="0"/>
              </a:spcBef>
              <a:spcAft>
                <a:spcPts val="0"/>
              </a:spcAft>
              <a:buSzPts val="1800"/>
              <a:buChar char="●"/>
            </a:pPr>
            <a:r>
              <a:rPr lang="fr"/>
              <a:t>En France, l’inflation </a:t>
            </a:r>
            <a:r>
              <a:rPr lang="fr"/>
              <a:t>dépasse</a:t>
            </a:r>
            <a:r>
              <a:rPr lang="fr"/>
              <a:t> les </a:t>
            </a:r>
            <a:r>
              <a:rPr b="1" lang="fr"/>
              <a:t>13%</a:t>
            </a:r>
            <a:r>
              <a:rPr lang="fr"/>
              <a:t> par année</a:t>
            </a:r>
            <a:endParaRPr/>
          </a:p>
          <a:p>
            <a:pPr indent="-342900" lvl="0" marL="457200" rtl="0" algn="l">
              <a:lnSpc>
                <a:spcPct val="150000"/>
              </a:lnSpc>
              <a:spcBef>
                <a:spcPts val="0"/>
              </a:spcBef>
              <a:spcAft>
                <a:spcPts val="0"/>
              </a:spcAft>
              <a:buSzPts val="1800"/>
              <a:buChar char="●"/>
            </a:pPr>
            <a:r>
              <a:rPr lang="fr"/>
              <a:t>L’évolution du PIB est sous les </a:t>
            </a:r>
            <a:r>
              <a:rPr b="1" lang="fr"/>
              <a:t>2%</a:t>
            </a:r>
            <a:r>
              <a:rPr lang="fr"/>
              <a:t> pendant plusieurs années</a:t>
            </a:r>
            <a:endParaRPr/>
          </a:p>
          <a:p>
            <a:pPr indent="-342900" lvl="0" marL="457200" rtl="0" algn="l">
              <a:lnSpc>
                <a:spcPct val="150000"/>
              </a:lnSpc>
              <a:spcBef>
                <a:spcPts val="0"/>
              </a:spcBef>
              <a:spcAft>
                <a:spcPts val="0"/>
              </a:spcAft>
              <a:buSzPts val="1800"/>
              <a:buChar char="●"/>
            </a:pPr>
            <a:r>
              <a:rPr b="1" lang="fr"/>
              <a:t>2,4 millions</a:t>
            </a:r>
            <a:r>
              <a:rPr lang="fr"/>
              <a:t> de demandeurs d’emploi en 1985</a:t>
            </a:r>
            <a:endParaRPr/>
          </a:p>
          <a:p>
            <a:pPr indent="-342900" lvl="0" marL="457200" rtl="0" algn="l">
              <a:lnSpc>
                <a:spcPct val="150000"/>
              </a:lnSpc>
              <a:spcBef>
                <a:spcPts val="0"/>
              </a:spcBef>
              <a:spcAft>
                <a:spcPts val="0"/>
              </a:spcAft>
              <a:buSzPts val="1800"/>
              <a:buChar char="●"/>
            </a:pPr>
            <a:r>
              <a:rPr lang="fr"/>
              <a:t>Mise en place du « </a:t>
            </a:r>
            <a:r>
              <a:rPr b="1" lang="fr"/>
              <a:t>tournant de la rigueur</a:t>
            </a:r>
            <a:r>
              <a:rPr lang="fr"/>
              <a:t> » en 1983 par le gouvernement Mauroy, réduction de l’inflation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Prémices</a:t>
            </a:r>
            <a:endParaRPr/>
          </a:p>
        </p:txBody>
      </p:sp>
      <p:sp>
        <p:nvSpPr>
          <p:cNvPr id="99" name="Google Shape;99;p20"/>
          <p:cNvSpPr txBox="1"/>
          <p:nvPr>
            <p:ph idx="1" type="body"/>
          </p:nvPr>
        </p:nvSpPr>
        <p:spPr>
          <a:xfrm>
            <a:off x="311700" y="1152475"/>
            <a:ext cx="8520600" cy="35871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fr" sz="1942"/>
              <a:t>Volonté des dirigeants d’entreprise de créer de l’attractivité auprès de leurs clients</a:t>
            </a:r>
            <a:endParaRPr sz="1942"/>
          </a:p>
          <a:p>
            <a:pPr indent="0" lvl="0" marL="0" rtl="0" algn="l">
              <a:spcBef>
                <a:spcPts val="1200"/>
              </a:spcBef>
              <a:spcAft>
                <a:spcPts val="0"/>
              </a:spcAft>
              <a:buNone/>
            </a:pPr>
            <a:r>
              <a:rPr lang="fr" sz="1942"/>
              <a:t>Signature d’une lettre d’intention le 15 septembre 1988 avec :</a:t>
            </a:r>
            <a:endParaRPr sz="1942"/>
          </a:p>
          <a:p>
            <a:pPr indent="-308610" lvl="0" marL="457200" rtl="0" algn="l">
              <a:spcBef>
                <a:spcPts val="1200"/>
              </a:spcBef>
              <a:spcAft>
                <a:spcPts val="0"/>
              </a:spcAft>
              <a:buSzPct val="100000"/>
              <a:buChar char="-"/>
            </a:pPr>
            <a:r>
              <a:rPr lang="fr"/>
              <a:t>Jacques Delors, Président de la Commission européenne et ancien Ministre de l’Économie et des Finances</a:t>
            </a:r>
            <a:endParaRPr/>
          </a:p>
          <a:p>
            <a:pPr indent="-308610" lvl="0" marL="457200" rtl="0" algn="l">
              <a:spcBef>
                <a:spcPts val="0"/>
              </a:spcBef>
              <a:spcAft>
                <a:spcPts val="0"/>
              </a:spcAft>
              <a:buSzPct val="100000"/>
              <a:buChar char="-"/>
            </a:pPr>
            <a:r>
              <a:rPr lang="fr"/>
              <a:t>14 PDG de grandes entreprises </a:t>
            </a:r>
            <a:r>
              <a:rPr lang="fr"/>
              <a:t>européennes :</a:t>
            </a:r>
            <a:endParaRPr/>
          </a:p>
          <a:p>
            <a:pPr indent="-277494" lvl="1" marL="914400" rtl="0" algn="l">
              <a:spcBef>
                <a:spcPts val="0"/>
              </a:spcBef>
              <a:spcAft>
                <a:spcPts val="0"/>
              </a:spcAft>
              <a:buClr>
                <a:srgbClr val="000000"/>
              </a:buClr>
              <a:buSzPct val="78571"/>
              <a:buFont typeface="Arial"/>
              <a:buChar char="-"/>
            </a:pPr>
            <a:r>
              <a:rPr lang="fr"/>
              <a:t>Umberto Agnelli - </a:t>
            </a:r>
            <a:r>
              <a:rPr b="1" lang="fr"/>
              <a:t>Fiat Auto SpA</a:t>
            </a:r>
            <a:endParaRPr b="1"/>
          </a:p>
          <a:p>
            <a:pPr indent="-277494" lvl="1" marL="914400" rtl="0" algn="l">
              <a:spcBef>
                <a:spcPts val="0"/>
              </a:spcBef>
              <a:spcAft>
                <a:spcPts val="0"/>
              </a:spcAft>
              <a:buClr>
                <a:srgbClr val="000000"/>
              </a:buClr>
              <a:buSzPct val="78571"/>
              <a:buFont typeface="Arial"/>
              <a:buChar char="-"/>
            </a:pPr>
            <a:r>
              <a:rPr lang="fr"/>
              <a:t>Carlo De Benedetti - </a:t>
            </a:r>
            <a:r>
              <a:rPr b="1" lang="fr"/>
              <a:t>Ing. C. Ollivetti &amp; C., SpA</a:t>
            </a:r>
            <a:endParaRPr b="1"/>
          </a:p>
          <a:p>
            <a:pPr indent="-277494" lvl="1" marL="914400" rtl="0" algn="l">
              <a:spcBef>
                <a:spcPts val="0"/>
              </a:spcBef>
              <a:spcAft>
                <a:spcPts val="0"/>
              </a:spcAft>
              <a:buClr>
                <a:srgbClr val="000000"/>
              </a:buClr>
              <a:buSzPct val="78571"/>
              <a:buFont typeface="Arial"/>
              <a:buChar char="-"/>
            </a:pPr>
            <a:r>
              <a:rPr lang="fr"/>
              <a:t>Carl Horst Hahn - </a:t>
            </a:r>
            <a:r>
              <a:rPr b="1" lang="fr"/>
              <a:t>Volkswagen AG</a:t>
            </a:r>
            <a:endParaRPr b="1"/>
          </a:p>
          <a:p>
            <a:pPr indent="-277494" lvl="1" marL="914400" rtl="0" algn="l">
              <a:spcBef>
                <a:spcPts val="0"/>
              </a:spcBef>
              <a:spcAft>
                <a:spcPts val="0"/>
              </a:spcAft>
              <a:buClr>
                <a:srgbClr val="000000"/>
              </a:buClr>
              <a:buSzPct val="78571"/>
              <a:buFont typeface="Arial"/>
              <a:buChar char="-"/>
            </a:pPr>
            <a:r>
              <a:rPr lang="fr"/>
              <a:t>A. Scharp - </a:t>
            </a:r>
            <a:r>
              <a:rPr b="1" lang="fr"/>
              <a:t>AB Electrolux</a:t>
            </a:r>
            <a:endParaRPr b="1"/>
          </a:p>
          <a:p>
            <a:pPr indent="-277494" lvl="1" marL="914400" rtl="0" algn="l">
              <a:spcBef>
                <a:spcPts val="0"/>
              </a:spcBef>
              <a:spcAft>
                <a:spcPts val="0"/>
              </a:spcAft>
              <a:buClr>
                <a:srgbClr val="000000"/>
              </a:buClr>
              <a:buSzPct val="78571"/>
              <a:buFont typeface="Arial"/>
              <a:buChar char="-"/>
            </a:pPr>
            <a:r>
              <a:rPr lang="fr"/>
              <a:t>Jan F.A. de Soet - </a:t>
            </a:r>
            <a:r>
              <a:rPr b="1" lang="fr"/>
              <a:t>Koninklijke Luchvaart Maatschappij N.V. (KLM)</a:t>
            </a:r>
            <a:endParaRPr b="1"/>
          </a:p>
          <a:p>
            <a:pPr indent="-277494" lvl="1" marL="914400" rtl="0" algn="l">
              <a:spcBef>
                <a:spcPts val="0"/>
              </a:spcBef>
              <a:spcAft>
                <a:spcPts val="0"/>
              </a:spcAft>
              <a:buClr>
                <a:srgbClr val="000000"/>
              </a:buClr>
              <a:buSzPct val="78571"/>
              <a:buFont typeface="Arial"/>
              <a:buChar char="-"/>
            </a:pPr>
            <a:r>
              <a:rPr lang="fr"/>
              <a:t>Cornelis Johannes van der Klugt - </a:t>
            </a:r>
            <a:r>
              <a:rPr b="1" lang="fr"/>
              <a:t>N.V. Philips' Gloeilampenfabrieken</a:t>
            </a:r>
            <a:endParaRPr b="1"/>
          </a:p>
          <a:p>
            <a:pPr indent="-277494" lvl="1" marL="914400" rtl="0" algn="l">
              <a:spcBef>
                <a:spcPts val="0"/>
              </a:spcBef>
              <a:spcAft>
                <a:spcPts val="0"/>
              </a:spcAft>
              <a:buClr>
                <a:srgbClr val="000000"/>
              </a:buClr>
              <a:buSzPct val="78571"/>
              <a:buFont typeface="Arial"/>
              <a:buChar char="-"/>
            </a:pPr>
            <a:r>
              <a:rPr lang="fr"/>
              <a:t>Serge Dassault - </a:t>
            </a:r>
            <a:r>
              <a:rPr b="1" lang="fr"/>
              <a:t>Avions Marcel Dassault-Breguet Aviation</a:t>
            </a:r>
            <a:endParaRPr b="1"/>
          </a:p>
          <a:p>
            <a:pPr indent="-277494" lvl="1" marL="914400" rtl="0" algn="l">
              <a:spcBef>
                <a:spcPts val="0"/>
              </a:spcBef>
              <a:spcAft>
                <a:spcPts val="0"/>
              </a:spcAft>
              <a:buClr>
                <a:srgbClr val="000000"/>
              </a:buClr>
              <a:buSzPct val="78571"/>
              <a:buFont typeface="Arial"/>
              <a:buChar char="-"/>
            </a:pPr>
            <a:r>
              <a:rPr lang="fr"/>
              <a:t>Heini Lippuner - </a:t>
            </a:r>
            <a:r>
              <a:rPr b="1" lang="fr"/>
              <a:t>Ciba-Geigy AG</a:t>
            </a:r>
            <a:endParaRPr b="1"/>
          </a:p>
          <a:p>
            <a:pPr indent="-277494" lvl="1" marL="914400" rtl="0" algn="l">
              <a:spcBef>
                <a:spcPts val="0"/>
              </a:spcBef>
              <a:spcAft>
                <a:spcPts val="0"/>
              </a:spcAft>
              <a:buClr>
                <a:srgbClr val="000000"/>
              </a:buClr>
              <a:buSzPct val="78571"/>
              <a:buFont typeface="Arial"/>
              <a:buChar char="-"/>
            </a:pPr>
            <a:r>
              <a:rPr lang="fr"/>
              <a:t>Raymond H. Lévy - </a:t>
            </a:r>
            <a:r>
              <a:rPr b="1" lang="fr"/>
              <a:t>Régie Nationale des Usines Renault</a:t>
            </a:r>
            <a:endParaRPr b="1"/>
          </a:p>
          <a:p>
            <a:pPr indent="-277494" lvl="1" marL="914400" rtl="0" algn="l">
              <a:spcBef>
                <a:spcPts val="0"/>
              </a:spcBef>
              <a:spcAft>
                <a:spcPts val="0"/>
              </a:spcAft>
              <a:buClr>
                <a:srgbClr val="000000"/>
              </a:buClr>
              <a:buSzPct val="78571"/>
              <a:buFont typeface="Arial"/>
              <a:buChar char="-"/>
            </a:pPr>
            <a:r>
              <a:rPr lang="fr"/>
              <a:t>Francis Lorentz - </a:t>
            </a:r>
            <a:r>
              <a:rPr b="1" lang="fr"/>
              <a:t>Bull SA</a:t>
            </a:r>
            <a:endParaRPr b="1"/>
          </a:p>
          <a:p>
            <a:pPr indent="-277494" lvl="1" marL="914400" rtl="0" algn="l">
              <a:spcBef>
                <a:spcPts val="0"/>
              </a:spcBef>
              <a:spcAft>
                <a:spcPts val="0"/>
              </a:spcAft>
              <a:buClr>
                <a:srgbClr val="000000"/>
              </a:buClr>
              <a:buSzPct val="78571"/>
              <a:buFont typeface="Arial"/>
              <a:buChar char="-"/>
            </a:pPr>
            <a:r>
              <a:rPr lang="fr"/>
              <a:t>Konrad Eckert - </a:t>
            </a:r>
            <a:r>
              <a:rPr b="1" lang="fr"/>
              <a:t>Robert Bosch GmbH</a:t>
            </a:r>
            <a:r>
              <a:rPr lang="fr"/>
              <a:t> (attending on behalf of Marcus Bierich)</a:t>
            </a:r>
            <a:endParaRPr/>
          </a:p>
          <a:p>
            <a:pPr indent="-277494" lvl="1" marL="914400" rtl="0" algn="l">
              <a:spcBef>
                <a:spcPts val="0"/>
              </a:spcBef>
              <a:spcAft>
                <a:spcPts val="0"/>
              </a:spcAft>
              <a:buClr>
                <a:srgbClr val="000000"/>
              </a:buClr>
              <a:buSzPct val="78571"/>
              <a:buFont typeface="Arial"/>
              <a:buChar char="-"/>
            </a:pPr>
            <a:r>
              <a:rPr lang="fr"/>
              <a:t>Iain David Thomas Vallance - </a:t>
            </a:r>
            <a:r>
              <a:rPr b="1" lang="fr"/>
              <a:t>British Telecommunications plc</a:t>
            </a:r>
            <a:endParaRPr b="1"/>
          </a:p>
          <a:p>
            <a:pPr indent="-277494" lvl="1" marL="914400" rtl="0" algn="l">
              <a:spcBef>
                <a:spcPts val="0"/>
              </a:spcBef>
              <a:spcAft>
                <a:spcPts val="0"/>
              </a:spcAft>
              <a:buClr>
                <a:srgbClr val="000000"/>
              </a:buClr>
              <a:buSzPct val="78571"/>
              <a:buFont typeface="Arial"/>
              <a:buChar char="-"/>
            </a:pPr>
            <a:r>
              <a:rPr lang="fr"/>
              <a:t>Fritz Fahrni - </a:t>
            </a:r>
            <a:r>
              <a:rPr b="1" lang="fr"/>
              <a:t>Gebr. Sulzer AG</a:t>
            </a:r>
            <a:endParaRPr b="1"/>
          </a:p>
          <a:p>
            <a:pPr indent="-277494" lvl="1" marL="914400" rtl="0" algn="l">
              <a:spcBef>
                <a:spcPts val="0"/>
              </a:spcBef>
              <a:spcAft>
                <a:spcPts val="0"/>
              </a:spcAft>
              <a:buClr>
                <a:srgbClr val="000000"/>
              </a:buClr>
              <a:buSzPct val="78571"/>
              <a:buFont typeface="Arial"/>
              <a:buChar char="-"/>
            </a:pPr>
            <a:r>
              <a:rPr lang="fr"/>
              <a:t>R. Morf - </a:t>
            </a:r>
            <a:r>
              <a:rPr b="1" lang="fr"/>
              <a:t>Nestlé SA</a:t>
            </a:r>
            <a:r>
              <a:rPr lang="fr"/>
              <a:t> (attending on behalf of Helmut Oswald Maucher)</a:t>
            </a:r>
            <a:endParaRPr/>
          </a:p>
        </p:txBody>
      </p:sp>
      <p:pic>
        <p:nvPicPr>
          <p:cNvPr id="100" name="Google Shape;100;p20"/>
          <p:cNvPicPr preferRelativeResize="0"/>
          <p:nvPr/>
        </p:nvPicPr>
        <p:blipFill>
          <a:blip r:embed="rId3">
            <a:alphaModFix/>
          </a:blip>
          <a:stretch>
            <a:fillRect/>
          </a:stretch>
        </p:blipFill>
        <p:spPr>
          <a:xfrm>
            <a:off x="5730075" y="2648050"/>
            <a:ext cx="3067376" cy="1503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Création</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1200"/>
              </a:spcBef>
              <a:spcAft>
                <a:spcPts val="0"/>
              </a:spcAft>
              <a:buSzPts val="1800"/>
              <a:buChar char="●"/>
            </a:pPr>
            <a:r>
              <a:rPr lang="fr"/>
              <a:t>EFQM créée en octobre </a:t>
            </a:r>
            <a:r>
              <a:rPr b="1" lang="fr"/>
              <a:t>1989</a:t>
            </a:r>
            <a:endParaRPr b="1"/>
          </a:p>
          <a:p>
            <a:pPr indent="-342900" lvl="0" marL="457200" rtl="0" algn="l">
              <a:lnSpc>
                <a:spcPct val="150000"/>
              </a:lnSpc>
              <a:spcBef>
                <a:spcPts val="0"/>
              </a:spcBef>
              <a:spcAft>
                <a:spcPts val="0"/>
              </a:spcAft>
              <a:buSzPts val="1800"/>
              <a:buChar char="●"/>
            </a:pPr>
            <a:r>
              <a:rPr lang="fr"/>
              <a:t>Fondation </a:t>
            </a:r>
            <a:r>
              <a:rPr b="1" lang="fr"/>
              <a:t>européenne</a:t>
            </a:r>
            <a:r>
              <a:rPr lang="fr"/>
              <a:t>, et supportée par l’Union Européenne</a:t>
            </a:r>
            <a:endParaRPr/>
          </a:p>
          <a:p>
            <a:pPr indent="-342900" lvl="0" marL="457200" rtl="0" algn="l">
              <a:lnSpc>
                <a:spcPct val="150000"/>
              </a:lnSpc>
              <a:spcBef>
                <a:spcPts val="0"/>
              </a:spcBef>
              <a:spcAft>
                <a:spcPts val="0"/>
              </a:spcAft>
              <a:buSzPts val="1800"/>
              <a:buChar char="●"/>
            </a:pPr>
            <a:r>
              <a:rPr b="1" lang="fr"/>
              <a:t>67</a:t>
            </a:r>
            <a:r>
              <a:rPr lang="fr"/>
              <a:t> PDG adhèrent au modèle</a:t>
            </a:r>
            <a:endParaRPr/>
          </a:p>
          <a:p>
            <a:pPr indent="-342900" lvl="0" marL="457200" rtl="0" algn="l">
              <a:lnSpc>
                <a:spcPct val="150000"/>
              </a:lnSpc>
              <a:spcBef>
                <a:spcPts val="0"/>
              </a:spcBef>
              <a:spcAft>
                <a:spcPts val="0"/>
              </a:spcAft>
              <a:buSzPts val="1800"/>
              <a:buChar char="●"/>
            </a:pPr>
            <a:r>
              <a:rPr lang="fr"/>
              <a:t>Équipe d’</a:t>
            </a:r>
            <a:r>
              <a:rPr b="1" lang="fr"/>
              <a:t>experts</a:t>
            </a:r>
            <a:r>
              <a:rPr lang="fr"/>
              <a:t> du domaine académique et industriel</a:t>
            </a:r>
            <a:endParaRPr/>
          </a:p>
          <a:p>
            <a:pPr indent="-342900" lvl="0" marL="457200" rtl="0" algn="l">
              <a:lnSpc>
                <a:spcPct val="150000"/>
              </a:lnSpc>
              <a:spcBef>
                <a:spcPts val="0"/>
              </a:spcBef>
              <a:spcAft>
                <a:spcPts val="0"/>
              </a:spcAft>
              <a:buSzPts val="1800"/>
              <a:buChar char="●"/>
            </a:pPr>
            <a:r>
              <a:rPr lang="fr"/>
              <a:t>Première remise du Prix de la Qualité Européenne en </a:t>
            </a:r>
            <a:r>
              <a:rPr b="1" lang="fr"/>
              <a:t>1992</a:t>
            </a:r>
            <a:r>
              <a:rPr lang="f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Première version du modèle</a:t>
            </a:r>
            <a:endParaRPr/>
          </a:p>
        </p:txBody>
      </p:sp>
      <p:pic>
        <p:nvPicPr>
          <p:cNvPr id="112" name="Google Shape;112;p22"/>
          <p:cNvPicPr preferRelativeResize="0"/>
          <p:nvPr/>
        </p:nvPicPr>
        <p:blipFill>
          <a:blip r:embed="rId3">
            <a:alphaModFix/>
          </a:blip>
          <a:stretch>
            <a:fillRect/>
          </a:stretch>
        </p:blipFill>
        <p:spPr>
          <a:xfrm>
            <a:off x="1509363" y="1331400"/>
            <a:ext cx="6125275" cy="3254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Critiques envers les anciennes versions</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1200"/>
              </a:spcBef>
              <a:spcAft>
                <a:spcPts val="0"/>
              </a:spcAft>
              <a:buSzPts val="1800"/>
              <a:buChar char="●"/>
            </a:pPr>
            <a:r>
              <a:rPr lang="fr"/>
              <a:t>Manque d’évolution du modèle avec l’actualité</a:t>
            </a:r>
            <a:endParaRPr/>
          </a:p>
          <a:p>
            <a:pPr indent="-342900" lvl="0" marL="457200" rtl="0" algn="l">
              <a:lnSpc>
                <a:spcPct val="150000"/>
              </a:lnSpc>
              <a:spcBef>
                <a:spcPts val="0"/>
              </a:spcBef>
              <a:spcAft>
                <a:spcPts val="0"/>
              </a:spcAft>
              <a:buSzPts val="1800"/>
              <a:buChar char="●"/>
            </a:pPr>
            <a:r>
              <a:rPr lang="fr"/>
              <a:t>Image, connaissance et largeur d’utilisation du modèle</a:t>
            </a:r>
            <a:endParaRPr/>
          </a:p>
          <a:p>
            <a:pPr indent="-342900" lvl="0" marL="457200" rtl="0" algn="l">
              <a:lnSpc>
                <a:spcPct val="150000"/>
              </a:lnSpc>
              <a:spcBef>
                <a:spcPts val="0"/>
              </a:spcBef>
              <a:spcAft>
                <a:spcPts val="0"/>
              </a:spcAft>
              <a:buSzPts val="1800"/>
              <a:buChar char="●"/>
            </a:pPr>
            <a:r>
              <a:rPr lang="fr"/>
              <a:t>Contenu du modèle  </a:t>
            </a:r>
            <a:r>
              <a:rPr i="1" lang="fr" sz="1500"/>
              <a:t>« Le modèle n’est plus sexy ! »</a:t>
            </a:r>
            <a:endParaRPr i="1" sz="1500"/>
          </a:p>
          <a:p>
            <a:pPr indent="-342900" lvl="0" marL="457200" rtl="0" algn="l">
              <a:lnSpc>
                <a:spcPct val="150000"/>
              </a:lnSpc>
              <a:spcBef>
                <a:spcPts val="0"/>
              </a:spcBef>
              <a:spcAft>
                <a:spcPts val="0"/>
              </a:spcAft>
              <a:buSzPts val="1800"/>
              <a:buChar char="●"/>
            </a:pPr>
            <a:r>
              <a:rPr lang="fr"/>
              <a:t>Evolution des megatrends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Pistes d’amélioration</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fr"/>
              <a:t>Un nouveau leadership</a:t>
            </a:r>
            <a:endParaRPr/>
          </a:p>
          <a:p>
            <a:pPr indent="-317500" lvl="1" marL="914400" rtl="0" algn="l">
              <a:spcBef>
                <a:spcPts val="0"/>
              </a:spcBef>
              <a:spcAft>
                <a:spcPts val="0"/>
              </a:spcAft>
              <a:buSzPts val="1400"/>
              <a:buChar char="○"/>
            </a:pPr>
            <a:r>
              <a:rPr lang="fr"/>
              <a:t>Moins hiérarchique</a:t>
            </a:r>
            <a:endParaRPr/>
          </a:p>
          <a:p>
            <a:pPr indent="-317500" lvl="1" marL="914400" rtl="0" algn="l">
              <a:spcBef>
                <a:spcPts val="0"/>
              </a:spcBef>
              <a:spcAft>
                <a:spcPts val="0"/>
              </a:spcAft>
              <a:buSzPts val="1400"/>
              <a:buChar char="○"/>
            </a:pPr>
            <a:r>
              <a:rPr lang="fr"/>
              <a:t>Plus collaboratif</a:t>
            </a:r>
            <a:endParaRPr/>
          </a:p>
          <a:p>
            <a:pPr indent="-342900" lvl="0" marL="457200" rtl="0" algn="l">
              <a:spcBef>
                <a:spcPts val="0"/>
              </a:spcBef>
              <a:spcAft>
                <a:spcPts val="0"/>
              </a:spcAft>
              <a:buSzPts val="1800"/>
              <a:buChar char="●"/>
            </a:pPr>
            <a:r>
              <a:rPr lang="fr"/>
              <a:t>Une révision du modèle de travail</a:t>
            </a:r>
            <a:endParaRPr/>
          </a:p>
          <a:p>
            <a:pPr indent="-317500" lvl="1" marL="914400" rtl="0" algn="l">
              <a:spcBef>
                <a:spcPts val="0"/>
              </a:spcBef>
              <a:spcAft>
                <a:spcPts val="0"/>
              </a:spcAft>
              <a:buSzPts val="1400"/>
              <a:buChar char="○"/>
            </a:pPr>
            <a:r>
              <a:rPr lang="fr"/>
              <a:t>Evolution permanente</a:t>
            </a:r>
            <a:endParaRPr/>
          </a:p>
          <a:p>
            <a:pPr indent="-317500" lvl="1" marL="914400" rtl="0" algn="l">
              <a:spcBef>
                <a:spcPts val="0"/>
              </a:spcBef>
              <a:spcAft>
                <a:spcPts val="0"/>
              </a:spcAft>
              <a:buSzPts val="1400"/>
              <a:buChar char="○"/>
            </a:pPr>
            <a:r>
              <a:rPr lang="fr"/>
              <a:t>Agilité</a:t>
            </a:r>
            <a:endParaRPr/>
          </a:p>
          <a:p>
            <a:pPr indent="-342900" lvl="0" marL="457200" rtl="0" algn="l">
              <a:spcBef>
                <a:spcPts val="0"/>
              </a:spcBef>
              <a:spcAft>
                <a:spcPts val="0"/>
              </a:spcAft>
              <a:buSzPts val="1800"/>
              <a:buChar char="●"/>
            </a:pPr>
            <a:r>
              <a:rPr lang="fr"/>
              <a:t>Approche différente pour travailler avec le personnel</a:t>
            </a:r>
            <a:endParaRPr/>
          </a:p>
          <a:p>
            <a:pPr indent="-317500" lvl="1" marL="914400" rtl="0" algn="l">
              <a:spcBef>
                <a:spcPts val="0"/>
              </a:spcBef>
              <a:spcAft>
                <a:spcPts val="0"/>
              </a:spcAft>
              <a:buSzPts val="1400"/>
              <a:buChar char="○"/>
            </a:pPr>
            <a:r>
              <a:rPr lang="fr"/>
              <a:t>Reconnaître la valeur apportée</a:t>
            </a:r>
            <a:endParaRPr/>
          </a:p>
          <a:p>
            <a:pPr indent="-317500" lvl="1" marL="914400" rtl="0" algn="l">
              <a:spcBef>
                <a:spcPts val="0"/>
              </a:spcBef>
              <a:spcAft>
                <a:spcPts val="0"/>
              </a:spcAft>
              <a:buSzPts val="1400"/>
              <a:buChar char="○"/>
            </a:pPr>
            <a:r>
              <a:rPr lang="fr"/>
              <a:t>Population plus diverse</a:t>
            </a:r>
            <a:endParaRPr/>
          </a:p>
          <a:p>
            <a:pPr indent="-342900" lvl="0" marL="457200" rtl="0" algn="l">
              <a:spcBef>
                <a:spcPts val="0"/>
              </a:spcBef>
              <a:spcAft>
                <a:spcPts val="0"/>
              </a:spcAft>
              <a:buSzPts val="1800"/>
              <a:buChar char="●"/>
            </a:pPr>
            <a:r>
              <a:rPr lang="fr"/>
              <a:t>Etat d’esprit d’innovation et culture à l’échelle de l’organisation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2. L’élaboration de la version 2020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nvSpPr>
        <p:spPr>
          <a:xfrm>
            <a:off x="490250" y="526350"/>
            <a:ext cx="5797500" cy="409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4800">
                <a:solidFill>
                  <a:srgbClr val="FFFFFF"/>
                </a:solidFill>
                <a:highlight>
                  <a:srgbClr val="202729"/>
                </a:highlight>
                <a:latin typeface="Proxima Nova"/>
                <a:ea typeface="Proxima Nova"/>
                <a:cs typeface="Proxima Nova"/>
                <a:sym typeface="Proxima Nova"/>
              </a:rPr>
              <a:t>Megatrend</a:t>
            </a:r>
            <a:endParaRPr sz="4800">
              <a:solidFill>
                <a:srgbClr val="FFFFFF"/>
              </a:solidFill>
              <a:highlight>
                <a:srgbClr val="202729"/>
              </a:highlight>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202729"/>
              </a:solidFill>
              <a:latin typeface="Proxima Nova"/>
              <a:ea typeface="Proxima Nova"/>
              <a:cs typeface="Proxima Nova"/>
              <a:sym typeface="Proxima Nova"/>
            </a:endParaRPr>
          </a:p>
          <a:p>
            <a:pPr indent="0" lvl="0" marL="0" rtl="0" algn="l">
              <a:spcBef>
                <a:spcPts val="0"/>
              </a:spcBef>
              <a:spcAft>
                <a:spcPts val="0"/>
              </a:spcAft>
              <a:buNone/>
            </a:pPr>
            <a:r>
              <a:rPr lang="fr">
                <a:solidFill>
                  <a:srgbClr val="202729"/>
                </a:solidFill>
                <a:latin typeface="Proxima Nova"/>
                <a:ea typeface="Proxima Nova"/>
                <a:cs typeface="Proxima Nova"/>
                <a:sym typeface="Proxima Nova"/>
              </a:rPr>
              <a:t>Tendance de fond émergente qui influencera plusieurs domaines, tels que la société, la culture, l’économie, la politique, etc.</a:t>
            </a:r>
            <a:br>
              <a:rPr lang="fr">
                <a:solidFill>
                  <a:srgbClr val="202729"/>
                </a:solidFill>
                <a:latin typeface="Proxima Nova"/>
                <a:ea typeface="Proxima Nova"/>
                <a:cs typeface="Proxima Nova"/>
                <a:sym typeface="Proxima Nova"/>
              </a:rPr>
            </a:br>
            <a:r>
              <a:rPr lang="fr">
                <a:solidFill>
                  <a:srgbClr val="202729"/>
                </a:solidFill>
                <a:latin typeface="Proxima Nova"/>
                <a:ea typeface="Proxima Nova"/>
                <a:cs typeface="Proxima Nova"/>
                <a:sym typeface="Proxima Nova"/>
              </a:rPr>
              <a:t>L’impact est tel qu’il définit le monde futur, transforme la société et influence les vies dans les années à venir ainsi que le rythme du changement vers ce futur annoncé. </a:t>
            </a:r>
            <a:r>
              <a:rPr i="1" lang="fr" sz="1200">
                <a:solidFill>
                  <a:srgbClr val="202729"/>
                </a:solidFill>
                <a:latin typeface="Proxima Nova"/>
                <a:ea typeface="Proxima Nova"/>
                <a:cs typeface="Proxima Nova"/>
                <a:sym typeface="Proxima Nova"/>
              </a:rPr>
              <a:t>- </a:t>
            </a:r>
            <a:r>
              <a:rPr i="1" lang="fr" sz="1200">
                <a:solidFill>
                  <a:srgbClr val="202729"/>
                </a:solidFill>
                <a:latin typeface="Proxima Nova"/>
                <a:ea typeface="Proxima Nova"/>
                <a:cs typeface="Proxima Nova"/>
                <a:sym typeface="Proxima Nova"/>
              </a:rPr>
              <a:t>C</a:t>
            </a:r>
            <a:r>
              <a:rPr i="1" lang="fr" sz="1200">
                <a:solidFill>
                  <a:srgbClr val="202729"/>
                </a:solidFill>
                <a:latin typeface="Proxima Nova"/>
                <a:ea typeface="Proxima Nova"/>
                <a:cs typeface="Proxima Nova"/>
                <a:sym typeface="Proxima Nova"/>
              </a:rPr>
              <a:t>hristian Hohmann</a:t>
            </a:r>
            <a:endParaRPr>
              <a:solidFill>
                <a:srgbClr val="202729"/>
              </a:solidFill>
              <a:latin typeface="Proxima Nova"/>
              <a:ea typeface="Proxima Nova"/>
              <a:cs typeface="Proxima Nova"/>
              <a:sym typeface="Proxima Nova"/>
            </a:endParaRPr>
          </a:p>
          <a:p>
            <a:pPr indent="0" lvl="0" marL="0" rtl="0" algn="l">
              <a:spcBef>
                <a:spcPts val="0"/>
              </a:spcBef>
              <a:spcAft>
                <a:spcPts val="0"/>
              </a:spcAft>
              <a:buNone/>
            </a:pPr>
            <a:r>
              <a:t/>
            </a:r>
            <a:endParaRPr i="1" sz="1100">
              <a:solidFill>
                <a:srgbClr val="202729"/>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graphicFrame>
        <p:nvGraphicFramePr>
          <p:cNvPr id="140" name="Google Shape;140;p27"/>
          <p:cNvGraphicFramePr/>
          <p:nvPr/>
        </p:nvGraphicFramePr>
        <p:xfrm>
          <a:off x="436750" y="1191800"/>
          <a:ext cx="3000000" cy="3000000"/>
        </p:xfrm>
        <a:graphic>
          <a:graphicData uri="http://schemas.openxmlformats.org/drawingml/2006/table">
            <a:tbl>
              <a:tblPr>
                <a:noFill/>
                <a:tableStyleId>{A72FFE07-3AE0-4F52-82CA-C47B32F8FDE8}</a:tableStyleId>
              </a:tblPr>
              <a:tblGrid>
                <a:gridCol w="2694100"/>
                <a:gridCol w="2694100"/>
                <a:gridCol w="2694100"/>
              </a:tblGrid>
              <a:tr h="1136025">
                <a:tc>
                  <a:txBody>
                    <a:bodyPr/>
                    <a:lstStyle/>
                    <a:p>
                      <a:pPr indent="0" lvl="0" marL="0" rtl="0" algn="ctr">
                        <a:spcBef>
                          <a:spcPts val="0"/>
                        </a:spcBef>
                        <a:spcAft>
                          <a:spcPts val="0"/>
                        </a:spcAft>
                        <a:buNone/>
                      </a:pPr>
                      <a:r>
                        <a:rPr b="1" lang="fr" sz="2000">
                          <a:solidFill>
                            <a:srgbClr val="4A86E8"/>
                          </a:solidFill>
                        </a:rPr>
                        <a:t>1</a:t>
                      </a:r>
                      <a:endParaRPr b="1" sz="2000">
                        <a:solidFill>
                          <a:srgbClr val="4A86E8"/>
                        </a:solidFill>
                      </a:endParaRPr>
                    </a:p>
                    <a:p>
                      <a:pPr indent="0" lvl="0" marL="0" rtl="0" algn="ctr">
                        <a:spcBef>
                          <a:spcPts val="0"/>
                        </a:spcBef>
                        <a:spcAft>
                          <a:spcPts val="0"/>
                        </a:spcAft>
                        <a:buNone/>
                      </a:pPr>
                      <a:r>
                        <a:rPr lang="fr"/>
                        <a:t>Manager la diversité démographique et sociale</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2</a:t>
                      </a:r>
                      <a:endParaRPr b="1" sz="2000">
                        <a:solidFill>
                          <a:srgbClr val="4A86E8"/>
                        </a:solidFill>
                      </a:endParaRPr>
                    </a:p>
                    <a:p>
                      <a:pPr indent="0" lvl="0" marL="0" rtl="0" algn="ctr">
                        <a:spcBef>
                          <a:spcPts val="0"/>
                        </a:spcBef>
                        <a:spcAft>
                          <a:spcPts val="0"/>
                        </a:spcAft>
                        <a:buNone/>
                      </a:pPr>
                      <a:r>
                        <a:rPr lang="fr"/>
                        <a:t>Accélération des technologies et disruption digitale</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3</a:t>
                      </a:r>
                      <a:br>
                        <a:rPr lang="fr"/>
                      </a:br>
                      <a:r>
                        <a:rPr lang="fr"/>
                        <a:t>Autonomie et entreprise libérée</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136025">
                <a:tc>
                  <a:txBody>
                    <a:bodyPr/>
                    <a:lstStyle/>
                    <a:p>
                      <a:pPr indent="0" lvl="0" marL="0" rtl="0" algn="ctr">
                        <a:spcBef>
                          <a:spcPts val="0"/>
                        </a:spcBef>
                        <a:spcAft>
                          <a:spcPts val="0"/>
                        </a:spcAft>
                        <a:buNone/>
                      </a:pPr>
                      <a:r>
                        <a:rPr b="1" lang="fr" sz="2000">
                          <a:solidFill>
                            <a:srgbClr val="4A86E8"/>
                          </a:solidFill>
                        </a:rPr>
                        <a:t>4</a:t>
                      </a:r>
                      <a:endParaRPr b="1" sz="2000">
                        <a:solidFill>
                          <a:srgbClr val="4A86E8"/>
                        </a:solidFill>
                      </a:endParaRPr>
                    </a:p>
                    <a:p>
                      <a:pPr indent="0" lvl="0" marL="0" rtl="0" algn="ctr">
                        <a:spcBef>
                          <a:spcPts val="0"/>
                        </a:spcBef>
                        <a:spcAft>
                          <a:spcPts val="0"/>
                        </a:spcAft>
                        <a:buNone/>
                      </a:pPr>
                      <a:r>
                        <a:rPr lang="fr"/>
                        <a:t>Demande accrue en compétences et effets de l'automatisation</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5</a:t>
                      </a:r>
                      <a:endParaRPr b="1" sz="2000">
                        <a:solidFill>
                          <a:srgbClr val="4A86E8"/>
                        </a:solidFill>
                      </a:endParaRPr>
                    </a:p>
                    <a:p>
                      <a:pPr indent="0" lvl="0" marL="0" rtl="0" algn="ctr">
                        <a:spcBef>
                          <a:spcPts val="0"/>
                        </a:spcBef>
                        <a:spcAft>
                          <a:spcPts val="0"/>
                        </a:spcAft>
                        <a:buNone/>
                      </a:pPr>
                      <a:r>
                        <a:rPr lang="fr"/>
                        <a:t>Economie du partage et de la confiance</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6</a:t>
                      </a:r>
                      <a:endParaRPr b="1" sz="2000">
                        <a:solidFill>
                          <a:srgbClr val="4A86E8"/>
                        </a:solidFill>
                      </a:endParaRPr>
                    </a:p>
                    <a:p>
                      <a:pPr indent="0" lvl="0" marL="0" rtl="0" algn="ctr">
                        <a:spcBef>
                          <a:spcPts val="0"/>
                        </a:spcBef>
                        <a:spcAft>
                          <a:spcPts val="0"/>
                        </a:spcAft>
                        <a:buNone/>
                      </a:pPr>
                      <a:r>
                        <a:rPr lang="fr"/>
                        <a:t>Raréfaction de la ressource</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136025">
                <a:tc>
                  <a:txBody>
                    <a:bodyPr/>
                    <a:lstStyle/>
                    <a:p>
                      <a:pPr indent="0" lvl="0" marL="0" rtl="0" algn="ctr">
                        <a:spcBef>
                          <a:spcPts val="0"/>
                        </a:spcBef>
                        <a:spcAft>
                          <a:spcPts val="0"/>
                        </a:spcAft>
                        <a:buNone/>
                      </a:pPr>
                      <a:r>
                        <a:rPr b="1" lang="fr" sz="2000">
                          <a:solidFill>
                            <a:srgbClr val="4A86E8"/>
                          </a:solidFill>
                        </a:rPr>
                        <a:t>7</a:t>
                      </a:r>
                      <a:endParaRPr b="1" sz="2000">
                        <a:solidFill>
                          <a:srgbClr val="4A86E8"/>
                        </a:solidFill>
                      </a:endParaRPr>
                    </a:p>
                    <a:p>
                      <a:pPr indent="0" lvl="0" marL="0" rtl="0" algn="ctr">
                        <a:spcBef>
                          <a:spcPts val="0"/>
                        </a:spcBef>
                        <a:spcAft>
                          <a:spcPts val="0"/>
                        </a:spcAft>
                        <a:buNone/>
                      </a:pPr>
                      <a:r>
                        <a:rPr lang="fr"/>
                        <a:t>Incertitude géopolitique et localisation</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8</a:t>
                      </a:r>
                      <a:endParaRPr b="1" sz="2000">
                        <a:solidFill>
                          <a:srgbClr val="4A86E8"/>
                        </a:solidFill>
                      </a:endParaRPr>
                    </a:p>
                    <a:p>
                      <a:pPr indent="0" lvl="0" marL="0" rtl="0" algn="ctr">
                        <a:spcBef>
                          <a:spcPts val="0"/>
                        </a:spcBef>
                        <a:spcAft>
                          <a:spcPts val="0"/>
                        </a:spcAft>
                        <a:buNone/>
                      </a:pPr>
                      <a:r>
                        <a:rPr lang="fr"/>
                        <a:t>Confrontation à des réglementations toujours plus exigeantes</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fr" sz="2000">
                          <a:solidFill>
                            <a:srgbClr val="4A86E8"/>
                          </a:solidFill>
                        </a:rPr>
                        <a:t>9</a:t>
                      </a:r>
                      <a:endParaRPr b="1" sz="2000">
                        <a:solidFill>
                          <a:srgbClr val="4A86E8"/>
                        </a:solidFill>
                      </a:endParaRPr>
                    </a:p>
                    <a:p>
                      <a:pPr indent="0" lvl="0" marL="0" rtl="0" algn="ctr">
                        <a:spcBef>
                          <a:spcPts val="0"/>
                        </a:spcBef>
                        <a:spcAft>
                          <a:spcPts val="0"/>
                        </a:spcAft>
                        <a:buNone/>
                      </a:pPr>
                      <a:r>
                        <a:rPr lang="fr"/>
                        <a:t>Environnement et changement climatique</a:t>
                      </a:r>
                      <a:endParaRPr/>
                    </a:p>
                    <a:p>
                      <a:pPr indent="0" lvl="0" marL="0" rtl="0" algn="ctr">
                        <a:spcBef>
                          <a:spcPts val="0"/>
                        </a:spcBef>
                        <a:spcAft>
                          <a:spcPts val="0"/>
                        </a:spcAft>
                        <a:buNone/>
                      </a:pPr>
                      <a:r>
                        <a:t/>
                      </a: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46" name="Google Shape;146;p28"/>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Vieillissement de l’âge du départ à la retraite.</a:t>
            </a:r>
            <a:endParaRPr/>
          </a:p>
          <a:p>
            <a:pPr indent="0" lvl="0" marL="0" rtl="0" algn="l">
              <a:spcBef>
                <a:spcPts val="1200"/>
              </a:spcBef>
              <a:spcAft>
                <a:spcPts val="0"/>
              </a:spcAft>
              <a:buNone/>
            </a:pPr>
            <a:r>
              <a:rPr lang="fr"/>
              <a:t>Une plus grande </a:t>
            </a:r>
            <a:r>
              <a:rPr lang="fr"/>
              <a:t>diversité</a:t>
            </a:r>
            <a:r>
              <a:rPr lang="fr"/>
              <a:t> d’âge, de cultures.</a:t>
            </a:r>
            <a:endParaRPr/>
          </a:p>
          <a:p>
            <a:pPr indent="0" lvl="0" marL="0" rtl="0" algn="l">
              <a:spcBef>
                <a:spcPts val="1200"/>
              </a:spcBef>
              <a:spcAft>
                <a:spcPts val="0"/>
              </a:spcAft>
              <a:buNone/>
            </a:pPr>
            <a:r>
              <a:rPr lang="fr"/>
              <a:t>Un rapport différent avec le travail.</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47" name="Google Shape;147;p28"/>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1</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Manager la diversité démographique et sociale</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53" name="Google Shape;153;p29"/>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Certaines sociétés reposent encore sur un SI vieillissant mais dont la </a:t>
            </a:r>
            <a:r>
              <a:rPr lang="fr"/>
              <a:t>transition</a:t>
            </a:r>
            <a:r>
              <a:rPr lang="fr"/>
              <a:t> est onéreuse.</a:t>
            </a:r>
            <a:endParaRPr/>
          </a:p>
          <a:p>
            <a:pPr indent="0" lvl="0" marL="0" rtl="0" algn="l">
              <a:spcBef>
                <a:spcPts val="1200"/>
              </a:spcBef>
              <a:spcAft>
                <a:spcPts val="0"/>
              </a:spcAft>
              <a:buNone/>
            </a:pPr>
            <a:r>
              <a:rPr lang="fr"/>
              <a:t>Les nouveaux arrivants maîtrisent à la perfection les dernières innovations.</a:t>
            </a:r>
            <a:endParaRPr/>
          </a:p>
          <a:p>
            <a:pPr indent="0" lvl="0" marL="0" rtl="0" algn="l">
              <a:spcBef>
                <a:spcPts val="1200"/>
              </a:spcBef>
              <a:spcAft>
                <a:spcPts val="0"/>
              </a:spcAft>
              <a:buNone/>
            </a:pPr>
            <a:r>
              <a:rPr lang="fr"/>
              <a:t>L’attente des clients se tourne vers le tout numérique et </a:t>
            </a:r>
            <a:r>
              <a:rPr lang="fr"/>
              <a:t>l'interactif</a:t>
            </a:r>
            <a:r>
              <a:rPr lang="fr"/>
              <a: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54" name="Google Shape;154;p29"/>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2</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Accélération des technologies et disruption digitale</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60" name="Google Shape;160;p30"/>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Redistribuer le pouvoir de sorte à ce que la parole des hommes proches du terrain reprenne de l’importance.</a:t>
            </a:r>
            <a:endParaRPr/>
          </a:p>
          <a:p>
            <a:pPr indent="0" lvl="0" marL="0" rtl="0" algn="l">
              <a:spcBef>
                <a:spcPts val="1200"/>
              </a:spcBef>
              <a:spcAft>
                <a:spcPts val="0"/>
              </a:spcAft>
              <a:buNone/>
            </a:pPr>
            <a:r>
              <a:rPr lang="fr"/>
              <a:t>Donner raison d’être et autonomie aux employés.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61" name="Google Shape;161;p30"/>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3</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Autonomie et entreprise libérée</a:t>
                      </a:r>
                      <a:endParaRPr sz="1600"/>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67" name="Google Shape;167;p31"/>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L’automatisation, l’IA, etc. demandent de nouvelles compétences.</a:t>
            </a:r>
            <a:endParaRPr/>
          </a:p>
          <a:p>
            <a:pPr indent="0" lvl="0" marL="0" rtl="0" algn="l">
              <a:spcBef>
                <a:spcPts val="1200"/>
              </a:spcBef>
              <a:spcAft>
                <a:spcPts val="0"/>
              </a:spcAft>
              <a:buNone/>
            </a:pPr>
            <a:r>
              <a:rPr lang="fr"/>
              <a:t>85 % des emplois de 2030 n'existent pas encore selon Dell.</a:t>
            </a:r>
            <a:endParaRPr/>
          </a:p>
          <a:p>
            <a:pPr indent="0" lvl="0" marL="0" rtl="0" algn="l">
              <a:spcBef>
                <a:spcPts val="1200"/>
              </a:spcBef>
              <a:spcAft>
                <a:spcPts val="0"/>
              </a:spcAft>
              <a:buNone/>
            </a:pPr>
            <a:r>
              <a:rPr lang="fr"/>
              <a:t>Il faut veiller au nombre de candidats disponibles.</a:t>
            </a:r>
            <a:endParaRPr/>
          </a:p>
          <a:p>
            <a:pPr indent="0" lvl="0" marL="0" rtl="0" algn="l">
              <a:spcBef>
                <a:spcPts val="1200"/>
              </a:spcBef>
              <a:spcAft>
                <a:spcPts val="1200"/>
              </a:spcAft>
              <a:buNone/>
            </a:pPr>
            <a:r>
              <a:t/>
            </a:r>
            <a:endParaRPr/>
          </a:p>
        </p:txBody>
      </p:sp>
      <p:graphicFrame>
        <p:nvGraphicFramePr>
          <p:cNvPr id="168" name="Google Shape;168;p31"/>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4</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Demande accrue en compétences et effets de l'automatisation</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74" name="Google Shape;174;p32"/>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Échange et partage de ses ressources avec </a:t>
            </a:r>
            <a:r>
              <a:rPr lang="fr"/>
              <a:t>autrui (ex: Airbnb)</a:t>
            </a:r>
            <a:r>
              <a:rPr lang="fr"/>
              <a:t>.</a:t>
            </a:r>
            <a:endParaRPr/>
          </a:p>
          <a:p>
            <a:pPr indent="0" lvl="0" marL="0" rtl="0" algn="l">
              <a:spcBef>
                <a:spcPts val="1200"/>
              </a:spcBef>
              <a:spcAft>
                <a:spcPts val="0"/>
              </a:spcAft>
              <a:buNone/>
            </a:pPr>
            <a:r>
              <a:rPr lang="fr"/>
              <a:t>Augmentation des avis utilisateurs. Considérer sa “e-réputation” et y prendre part sont essentiels.</a:t>
            </a:r>
            <a:endParaRPr/>
          </a:p>
          <a:p>
            <a:pPr indent="0" lvl="0" marL="0" rtl="0" algn="l">
              <a:spcBef>
                <a:spcPts val="1200"/>
              </a:spcBef>
              <a:spcAft>
                <a:spcPts val="0"/>
              </a:spcAft>
              <a:buNone/>
            </a:pPr>
            <a:r>
              <a:rPr lang="fr"/>
              <a:t>Une confiance dans les applications (ex: Yuka).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75" name="Google Shape;175;p32"/>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5</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Economie du partage et de la confiance</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81" name="Google Shape;181;p33"/>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La population mondiale augmente de manière </a:t>
            </a:r>
            <a:r>
              <a:rPr lang="fr"/>
              <a:t>exponentielle</a:t>
            </a:r>
            <a:r>
              <a:rPr lang="fr"/>
              <a:t>.</a:t>
            </a:r>
            <a:endParaRPr/>
          </a:p>
          <a:p>
            <a:pPr indent="0" lvl="0" marL="0" rtl="0" algn="l">
              <a:spcBef>
                <a:spcPts val="1200"/>
              </a:spcBef>
              <a:spcAft>
                <a:spcPts val="0"/>
              </a:spcAft>
              <a:buNone/>
            </a:pPr>
            <a:r>
              <a:rPr lang="fr"/>
              <a:t>La vitesse de production agricole, les stocks de matières premières sont tous deux limités.</a:t>
            </a:r>
            <a:endParaRPr/>
          </a:p>
          <a:p>
            <a:pPr indent="0" lvl="0" marL="0" rtl="0" algn="l">
              <a:spcBef>
                <a:spcPts val="1200"/>
              </a:spcBef>
              <a:spcAft>
                <a:spcPts val="0"/>
              </a:spcAft>
              <a:buNone/>
            </a:pPr>
            <a:r>
              <a:rPr lang="fr"/>
              <a:t>Le jour du dépassement apparaît de plus en plus tôt.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82" name="Google Shape;182;p33"/>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6</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Raréfaction de la ressource</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88" name="Google Shape;188;p34"/>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pays, « usines du monde » entrent dans une </a:t>
            </a:r>
            <a:r>
              <a:rPr lang="fr"/>
              <a:t>récession</a:t>
            </a:r>
            <a:r>
              <a:rPr lang="fr"/>
              <a:t>.</a:t>
            </a:r>
            <a:endParaRPr/>
          </a:p>
          <a:p>
            <a:pPr indent="0" lvl="0" marL="0" rtl="0" algn="l">
              <a:spcBef>
                <a:spcPts val="1200"/>
              </a:spcBef>
              <a:spcAft>
                <a:spcPts val="0"/>
              </a:spcAft>
              <a:buNone/>
            </a:pPr>
            <a:r>
              <a:rPr lang="fr"/>
              <a:t>Stratégies gouvernementales orientées vers le pays (ex: Brexit, a. Trump)</a:t>
            </a:r>
            <a:endParaRPr/>
          </a:p>
          <a:p>
            <a:pPr indent="0" lvl="0" marL="0" rtl="0" algn="l">
              <a:spcBef>
                <a:spcPts val="1200"/>
              </a:spcBef>
              <a:spcAft>
                <a:spcPts val="0"/>
              </a:spcAft>
              <a:buNone/>
            </a:pPr>
            <a:r>
              <a:rPr lang="fr"/>
              <a:t>Le </a:t>
            </a:r>
            <a:r>
              <a:rPr lang="fr"/>
              <a:t>consommateur</a:t>
            </a:r>
            <a:r>
              <a:rPr lang="fr"/>
              <a:t> en quête du local et délaisse l’iconique « Made in China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89" name="Google Shape;189;p34"/>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7</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Incertitude géopolitique et localisation</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195" name="Google Shape;195;p35"/>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Une augmentation des normes pour garantir </a:t>
            </a:r>
            <a:r>
              <a:rPr lang="fr"/>
              <a:t>contrôle du marché et sécurité aux consommateurs.</a:t>
            </a:r>
            <a:endParaRPr/>
          </a:p>
          <a:p>
            <a:pPr indent="0" lvl="0" marL="0" rtl="0" algn="l">
              <a:spcBef>
                <a:spcPts val="1200"/>
              </a:spcBef>
              <a:spcAft>
                <a:spcPts val="0"/>
              </a:spcAft>
              <a:buNone/>
            </a:pPr>
            <a:r>
              <a:rPr lang="fr"/>
              <a:t>Les entreprises devraient prendre part à ces décisions.</a:t>
            </a:r>
            <a:endParaRPr/>
          </a:p>
          <a:p>
            <a:pPr indent="0" lvl="0" marL="0" rtl="0" algn="l">
              <a:spcBef>
                <a:spcPts val="1200"/>
              </a:spcBef>
              <a:spcAft>
                <a:spcPts val="0"/>
              </a:spcAft>
              <a:buNone/>
            </a:pPr>
            <a:r>
              <a:rPr lang="fr"/>
              <a:t>Evolution à venir des interactions entre secteur publique et privé.</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196" name="Google Shape;196;p35"/>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8</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Confrontation à des réglementations toujours plus exigeantes</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mégatrends</a:t>
            </a:r>
            <a:endParaRPr/>
          </a:p>
        </p:txBody>
      </p:sp>
      <p:sp>
        <p:nvSpPr>
          <p:cNvPr id="202" name="Google Shape;202;p36"/>
          <p:cNvSpPr txBox="1"/>
          <p:nvPr>
            <p:ph idx="1" type="body"/>
          </p:nvPr>
        </p:nvSpPr>
        <p:spPr>
          <a:xfrm>
            <a:off x="983250" y="2062975"/>
            <a:ext cx="7849200" cy="25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Un dérèglement climatique qui n’est plus à prouver.</a:t>
            </a:r>
            <a:endParaRPr/>
          </a:p>
          <a:p>
            <a:pPr indent="0" lvl="0" marL="0" rtl="0" algn="l">
              <a:spcBef>
                <a:spcPts val="1200"/>
              </a:spcBef>
              <a:spcAft>
                <a:spcPts val="0"/>
              </a:spcAft>
              <a:buNone/>
            </a:pPr>
            <a:r>
              <a:rPr lang="fr"/>
              <a:t>Prendre en compte la fiscalité carbone.</a:t>
            </a:r>
            <a:endParaRPr/>
          </a:p>
          <a:p>
            <a:pPr indent="0" lvl="0" marL="0" rtl="0" algn="l">
              <a:spcBef>
                <a:spcPts val="1200"/>
              </a:spcBef>
              <a:spcAft>
                <a:spcPts val="0"/>
              </a:spcAft>
              <a:buNone/>
            </a:pPr>
            <a:r>
              <a:rPr lang="fr"/>
              <a:t>Considérer les plans neutre en carbone (RSE).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203" name="Google Shape;203;p36"/>
          <p:cNvGraphicFramePr/>
          <p:nvPr/>
        </p:nvGraphicFramePr>
        <p:xfrm>
          <a:off x="420050" y="1222150"/>
          <a:ext cx="3000000" cy="3000000"/>
        </p:xfrm>
        <a:graphic>
          <a:graphicData uri="http://schemas.openxmlformats.org/drawingml/2006/table">
            <a:tbl>
              <a:tblPr>
                <a:noFill/>
                <a:tableStyleId>{A72FFE07-3AE0-4F52-82CA-C47B32F8FDE8}</a:tableStyleId>
              </a:tblPr>
              <a:tblGrid>
                <a:gridCol w="635325"/>
                <a:gridCol w="7530625"/>
              </a:tblGrid>
              <a:tr h="548600">
                <a:tc>
                  <a:txBody>
                    <a:bodyPr/>
                    <a:lstStyle/>
                    <a:p>
                      <a:pPr indent="0" lvl="0" marL="0" rtl="0" algn="ctr">
                        <a:spcBef>
                          <a:spcPts val="0"/>
                        </a:spcBef>
                        <a:spcAft>
                          <a:spcPts val="0"/>
                        </a:spcAft>
                        <a:buNone/>
                      </a:pPr>
                      <a:r>
                        <a:rPr b="1" lang="fr" sz="2400">
                          <a:solidFill>
                            <a:srgbClr val="4A86E8"/>
                          </a:solidFill>
                        </a:rPr>
                        <a:t>9</a:t>
                      </a:r>
                      <a:endParaRPr b="1" sz="2400">
                        <a:solidFill>
                          <a:srgbClr val="4A86E8"/>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4A86E8"/>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fr" sz="2000">
                          <a:latin typeface="Proxima Nova"/>
                          <a:ea typeface="Proxima Nova"/>
                          <a:cs typeface="Proxima Nova"/>
                          <a:sym typeface="Proxima Nova"/>
                        </a:rPr>
                        <a:t>Environnement et changement climatique</a:t>
                      </a:r>
                      <a:endParaRPr sz="2000">
                        <a:latin typeface="Proxima Nova"/>
                        <a:ea typeface="Proxima Nova"/>
                        <a:cs typeface="Proxima Nova"/>
                        <a:sym typeface="Proxima Nova"/>
                      </a:endParaRPr>
                    </a:p>
                  </a:txBody>
                  <a:tcPr marT="91425" marB="91425" marR="91425" marL="91425" anchor="ctr">
                    <a:lnL cap="flat" cmpd="sng" w="9525">
                      <a:solidFill>
                        <a:srgbClr val="4A86E8"/>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Process</a:t>
            </a:r>
            <a:endParaRPr/>
          </a:p>
        </p:txBody>
      </p:sp>
      <p:pic>
        <p:nvPicPr>
          <p:cNvPr id="209" name="Google Shape;209;p37"/>
          <p:cNvPicPr preferRelativeResize="0"/>
          <p:nvPr/>
        </p:nvPicPr>
        <p:blipFill>
          <a:blip r:embed="rId3">
            <a:alphaModFix/>
          </a:blip>
          <a:stretch>
            <a:fillRect/>
          </a:stretch>
        </p:blipFill>
        <p:spPr>
          <a:xfrm>
            <a:off x="1951575" y="881700"/>
            <a:ext cx="5240853" cy="382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grandes différences</a:t>
            </a:r>
            <a:endParaRPr/>
          </a:p>
        </p:txBody>
      </p:sp>
      <p:grpSp>
        <p:nvGrpSpPr>
          <p:cNvPr id="215" name="Google Shape;215;p38"/>
          <p:cNvGrpSpPr/>
          <p:nvPr/>
        </p:nvGrpSpPr>
        <p:grpSpPr>
          <a:xfrm>
            <a:off x="659863" y="1079599"/>
            <a:ext cx="7824288" cy="3784064"/>
            <a:chOff x="442250" y="1460599"/>
            <a:chExt cx="7824288" cy="3784064"/>
          </a:xfrm>
        </p:grpSpPr>
        <p:grpSp>
          <p:nvGrpSpPr>
            <p:cNvPr id="216" name="Google Shape;216;p38"/>
            <p:cNvGrpSpPr/>
            <p:nvPr/>
          </p:nvGrpSpPr>
          <p:grpSpPr>
            <a:xfrm>
              <a:off x="442250" y="1460600"/>
              <a:ext cx="2355300" cy="3137575"/>
              <a:chOff x="442250" y="1460600"/>
              <a:chExt cx="2355300" cy="3137575"/>
            </a:xfrm>
          </p:grpSpPr>
          <p:sp>
            <p:nvSpPr>
              <p:cNvPr id="217" name="Google Shape;217;p38"/>
              <p:cNvSpPr txBox="1"/>
              <p:nvPr/>
            </p:nvSpPr>
            <p:spPr>
              <a:xfrm>
                <a:off x="442250" y="1460600"/>
                <a:ext cx="2355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latin typeface="Proxima Nova"/>
                    <a:ea typeface="Proxima Nova"/>
                    <a:cs typeface="Proxima Nova"/>
                    <a:sym typeface="Proxima Nova"/>
                  </a:rPr>
                  <a:t>Rendre l’entreprise malléable et compatible avec le changement</a:t>
                </a:r>
                <a:endParaRPr>
                  <a:latin typeface="Proxima Nova"/>
                  <a:ea typeface="Proxima Nova"/>
                  <a:cs typeface="Proxima Nova"/>
                  <a:sym typeface="Proxima Nova"/>
                </a:endParaRPr>
              </a:p>
            </p:txBody>
          </p:sp>
          <p:sp>
            <p:nvSpPr>
              <p:cNvPr id="218" name="Google Shape;218;p38"/>
              <p:cNvSpPr txBox="1"/>
              <p:nvPr/>
            </p:nvSpPr>
            <p:spPr>
              <a:xfrm>
                <a:off x="442250" y="2474175"/>
                <a:ext cx="23553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666666"/>
                    </a:solidFill>
                    <a:latin typeface="Proxima Nova"/>
                    <a:ea typeface="Proxima Nova"/>
                    <a:cs typeface="Proxima Nova"/>
                    <a:sym typeface="Proxima Nova"/>
                  </a:rPr>
                  <a:t>Accroître</a:t>
                </a:r>
                <a:r>
                  <a:rPr lang="fr">
                    <a:solidFill>
                      <a:srgbClr val="666666"/>
                    </a:solidFill>
                    <a:latin typeface="Proxima Nova"/>
                    <a:ea typeface="Proxima Nova"/>
                    <a:cs typeface="Proxima Nova"/>
                    <a:sym typeface="Proxima Nova"/>
                  </a:rPr>
                  <a:t> l’observation des tendances du marché.</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rPr lang="fr">
                    <a:solidFill>
                      <a:srgbClr val="666666"/>
                    </a:solidFill>
                    <a:latin typeface="Proxima Nova"/>
                    <a:ea typeface="Proxima Nova"/>
                    <a:cs typeface="Proxima Nova"/>
                    <a:sym typeface="Proxima Nova"/>
                  </a:rPr>
                  <a:t>Considérer les processus en cours d’exploitation.</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rPr lang="fr">
                    <a:solidFill>
                      <a:srgbClr val="666666"/>
                    </a:solidFill>
                    <a:latin typeface="Proxima Nova"/>
                    <a:ea typeface="Proxima Nova"/>
                    <a:cs typeface="Proxima Nova"/>
                    <a:sym typeface="Proxima Nova"/>
                  </a:rPr>
                  <a:t>Concevoir des transitions qui sont compatibles avec le maintien d’une activité.</a:t>
                </a:r>
                <a:endParaRPr>
                  <a:solidFill>
                    <a:srgbClr val="666666"/>
                  </a:solidFill>
                  <a:latin typeface="Proxima Nova"/>
                  <a:ea typeface="Proxima Nova"/>
                  <a:cs typeface="Proxima Nova"/>
                  <a:sym typeface="Proxima Nova"/>
                </a:endParaRPr>
              </a:p>
            </p:txBody>
          </p:sp>
          <p:cxnSp>
            <p:nvCxnSpPr>
              <p:cNvPr id="219" name="Google Shape;219;p38"/>
              <p:cNvCxnSpPr/>
              <p:nvPr/>
            </p:nvCxnSpPr>
            <p:spPr>
              <a:xfrm>
                <a:off x="1095950" y="2368100"/>
                <a:ext cx="1047900" cy="9600"/>
              </a:xfrm>
              <a:prstGeom prst="straightConnector1">
                <a:avLst/>
              </a:prstGeom>
              <a:noFill/>
              <a:ln cap="flat" cmpd="sng" w="19050">
                <a:solidFill>
                  <a:srgbClr val="4A86E8"/>
                </a:solidFill>
                <a:prstDash val="solid"/>
                <a:round/>
                <a:headEnd len="med" w="med" type="none"/>
                <a:tailEnd len="med" w="med" type="none"/>
              </a:ln>
            </p:spPr>
          </p:cxnSp>
        </p:grpSp>
        <p:grpSp>
          <p:nvGrpSpPr>
            <p:cNvPr id="220" name="Google Shape;220;p38"/>
            <p:cNvGrpSpPr/>
            <p:nvPr/>
          </p:nvGrpSpPr>
          <p:grpSpPr>
            <a:xfrm>
              <a:off x="5911225" y="1460600"/>
              <a:ext cx="2355313" cy="2922175"/>
              <a:chOff x="442250" y="1460600"/>
              <a:chExt cx="2355313" cy="2922175"/>
            </a:xfrm>
          </p:grpSpPr>
          <p:sp>
            <p:nvSpPr>
              <p:cNvPr id="221" name="Google Shape;221;p38"/>
              <p:cNvSpPr txBox="1"/>
              <p:nvPr/>
            </p:nvSpPr>
            <p:spPr>
              <a:xfrm>
                <a:off x="442263" y="1460600"/>
                <a:ext cx="2355300" cy="831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fr">
                    <a:latin typeface="Proxima Nova"/>
                    <a:ea typeface="Proxima Nova"/>
                    <a:cs typeface="Proxima Nova"/>
                    <a:sym typeface="Proxima Nova"/>
                  </a:rPr>
                  <a:t>Recentrer la stratégie sur la raison d’être de l’entreprise</a:t>
                </a:r>
                <a:endParaRPr>
                  <a:latin typeface="Proxima Nova"/>
                  <a:ea typeface="Proxima Nova"/>
                  <a:cs typeface="Proxima Nova"/>
                  <a:sym typeface="Proxima Nova"/>
                </a:endParaRPr>
              </a:p>
            </p:txBody>
          </p:sp>
          <p:sp>
            <p:nvSpPr>
              <p:cNvPr id="222" name="Google Shape;222;p38"/>
              <p:cNvSpPr txBox="1"/>
              <p:nvPr/>
            </p:nvSpPr>
            <p:spPr>
              <a:xfrm>
                <a:off x="442250" y="2474175"/>
                <a:ext cx="2355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666666"/>
                    </a:solidFill>
                    <a:latin typeface="Proxima Nova"/>
                    <a:ea typeface="Proxima Nova"/>
                    <a:cs typeface="Proxima Nova"/>
                    <a:sym typeface="Proxima Nova"/>
                  </a:rPr>
                  <a:t>L’entreprise doit avoir conscience de l’importance de sa culture.</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rPr lang="fr">
                    <a:solidFill>
                      <a:srgbClr val="666666"/>
                    </a:solidFill>
                    <a:latin typeface="Proxima Nova"/>
                    <a:ea typeface="Proxima Nova"/>
                    <a:cs typeface="Proxima Nova"/>
                    <a:sym typeface="Proxima Nova"/>
                  </a:rPr>
                  <a:t>Elle doit penser à sa raison d’être, son impacte sur son environnement de sorte à ne pas négliger l’avenir.</a:t>
                </a:r>
                <a:endParaRPr>
                  <a:solidFill>
                    <a:srgbClr val="666666"/>
                  </a:solidFill>
                  <a:latin typeface="Proxima Nova"/>
                  <a:ea typeface="Proxima Nova"/>
                  <a:cs typeface="Proxima Nova"/>
                  <a:sym typeface="Proxima Nova"/>
                </a:endParaRPr>
              </a:p>
            </p:txBody>
          </p:sp>
          <p:cxnSp>
            <p:nvCxnSpPr>
              <p:cNvPr id="223" name="Google Shape;223;p38"/>
              <p:cNvCxnSpPr/>
              <p:nvPr/>
            </p:nvCxnSpPr>
            <p:spPr>
              <a:xfrm>
                <a:off x="1095950" y="2368100"/>
                <a:ext cx="1047900" cy="9600"/>
              </a:xfrm>
              <a:prstGeom prst="straightConnector1">
                <a:avLst/>
              </a:prstGeom>
              <a:noFill/>
              <a:ln cap="flat" cmpd="sng" w="19050">
                <a:solidFill>
                  <a:srgbClr val="4A86E8"/>
                </a:solidFill>
                <a:prstDash val="solid"/>
                <a:round/>
                <a:headEnd len="med" w="med" type="none"/>
                <a:tailEnd len="med" w="med" type="none"/>
              </a:ln>
            </p:spPr>
          </p:cxnSp>
        </p:grpSp>
        <p:grpSp>
          <p:nvGrpSpPr>
            <p:cNvPr id="224" name="Google Shape;224;p38"/>
            <p:cNvGrpSpPr/>
            <p:nvPr/>
          </p:nvGrpSpPr>
          <p:grpSpPr>
            <a:xfrm>
              <a:off x="3176738" y="1460599"/>
              <a:ext cx="2355300" cy="3784064"/>
              <a:chOff x="442250" y="1460611"/>
              <a:chExt cx="2355300" cy="3784064"/>
            </a:xfrm>
          </p:grpSpPr>
          <p:sp>
            <p:nvSpPr>
              <p:cNvPr id="225" name="Google Shape;225;p38"/>
              <p:cNvSpPr txBox="1"/>
              <p:nvPr/>
            </p:nvSpPr>
            <p:spPr>
              <a:xfrm>
                <a:off x="442250" y="1460611"/>
                <a:ext cx="2355300" cy="831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fr">
                    <a:latin typeface="Proxima Nova"/>
                    <a:ea typeface="Proxima Nova"/>
                    <a:cs typeface="Proxima Nova"/>
                    <a:sym typeface="Proxima Nova"/>
                  </a:rPr>
                  <a:t>Moderniser le modèle de management</a:t>
                </a:r>
                <a:endParaRPr>
                  <a:latin typeface="Proxima Nova"/>
                  <a:ea typeface="Proxima Nova"/>
                  <a:cs typeface="Proxima Nova"/>
                  <a:sym typeface="Proxima Nova"/>
                </a:endParaRPr>
              </a:p>
            </p:txBody>
          </p:sp>
          <p:sp>
            <p:nvSpPr>
              <p:cNvPr id="226" name="Google Shape;226;p38"/>
              <p:cNvSpPr txBox="1"/>
              <p:nvPr/>
            </p:nvSpPr>
            <p:spPr>
              <a:xfrm>
                <a:off x="442250" y="2474175"/>
                <a:ext cx="2355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rgbClr val="666666"/>
                    </a:solidFill>
                    <a:latin typeface="Proxima Nova"/>
                    <a:ea typeface="Proxima Nova"/>
                    <a:cs typeface="Proxima Nova"/>
                    <a:sym typeface="Proxima Nova"/>
                  </a:rPr>
                  <a:t>Redonner de la valeur à la parole des hommes de terrain.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rPr lang="fr">
                    <a:solidFill>
                      <a:srgbClr val="666666"/>
                    </a:solidFill>
                    <a:latin typeface="Proxima Nova"/>
                    <a:ea typeface="Proxima Nova"/>
                    <a:cs typeface="Proxima Nova"/>
                    <a:sym typeface="Proxima Nova"/>
                  </a:rPr>
                  <a:t>Rendre autonome les groupes autant sur leurs opérations que sur leur vision du future.</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a:p>
                <a:pPr indent="0" lvl="0" marL="0" rtl="0" algn="l">
                  <a:spcBef>
                    <a:spcPts val="0"/>
                  </a:spcBef>
                  <a:spcAft>
                    <a:spcPts val="0"/>
                  </a:spcAft>
                  <a:buNone/>
                </a:pPr>
                <a:r>
                  <a:rPr lang="fr">
                    <a:solidFill>
                      <a:srgbClr val="666666"/>
                    </a:solidFill>
                    <a:latin typeface="Proxima Nova"/>
                    <a:ea typeface="Proxima Nova"/>
                    <a:cs typeface="Proxima Nova"/>
                    <a:sym typeface="Proxima Nova"/>
                  </a:rPr>
                  <a:t>Augmenter les communications et interactions</a:t>
                </a:r>
                <a:endParaRPr>
                  <a:solidFill>
                    <a:srgbClr val="666666"/>
                  </a:solidFill>
                  <a:latin typeface="Proxima Nova"/>
                  <a:ea typeface="Proxima Nova"/>
                  <a:cs typeface="Proxima Nova"/>
                  <a:sym typeface="Proxima Nova"/>
                </a:endParaRPr>
              </a:p>
            </p:txBody>
          </p:sp>
          <p:cxnSp>
            <p:nvCxnSpPr>
              <p:cNvPr id="227" name="Google Shape;227;p38"/>
              <p:cNvCxnSpPr/>
              <p:nvPr/>
            </p:nvCxnSpPr>
            <p:spPr>
              <a:xfrm>
                <a:off x="1095950" y="2368100"/>
                <a:ext cx="1047900" cy="9600"/>
              </a:xfrm>
              <a:prstGeom prst="straightConnector1">
                <a:avLst/>
              </a:prstGeom>
              <a:noFill/>
              <a:ln cap="flat" cmpd="sng" w="19050">
                <a:solidFill>
                  <a:srgbClr val="4A86E8"/>
                </a:solidFill>
                <a:prstDash val="solid"/>
                <a:round/>
                <a:headEnd len="med" w="med" type="none"/>
                <a:tailEnd len="med" w="med" type="none"/>
              </a:ln>
            </p:spPr>
          </p:cxn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9"/>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3. Présentation de l’EFQM 2020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0"/>
          <p:cNvPicPr preferRelativeResize="0"/>
          <p:nvPr/>
        </p:nvPicPr>
        <p:blipFill>
          <a:blip r:embed="rId3">
            <a:alphaModFix/>
          </a:blip>
          <a:stretch>
            <a:fillRect/>
          </a:stretch>
        </p:blipFill>
        <p:spPr>
          <a:xfrm>
            <a:off x="1833275" y="152400"/>
            <a:ext cx="5477454" cy="48387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a:t>
            </a:r>
            <a:r>
              <a:rPr lang="fr">
                <a:solidFill>
                  <a:srgbClr val="FFFFFF"/>
                </a:solidFill>
                <a:highlight>
                  <a:srgbClr val="3D85C6"/>
                </a:highlight>
              </a:rPr>
              <a:t>orientation</a:t>
            </a:r>
            <a:endParaRPr>
              <a:solidFill>
                <a:srgbClr val="FFFFFF"/>
              </a:solidFill>
              <a:highlight>
                <a:srgbClr val="3D85C6"/>
              </a:highlight>
            </a:endParaRPr>
          </a:p>
        </p:txBody>
      </p:sp>
      <p:sp>
        <p:nvSpPr>
          <p:cNvPr id="243" name="Google Shape;243;p41"/>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3D85C6"/>
                </a:solidFill>
                <a:latin typeface="Proxima Nova"/>
                <a:ea typeface="Proxima Nova"/>
                <a:cs typeface="Proxima Nova"/>
                <a:sym typeface="Proxima Nova"/>
              </a:rPr>
              <a:t>C.1</a:t>
            </a:r>
            <a:r>
              <a:rPr lang="fr" sz="1800">
                <a:solidFill>
                  <a:schemeClr val="accent3"/>
                </a:solidFill>
                <a:latin typeface="Proxima Nova"/>
                <a:ea typeface="Proxima Nova"/>
                <a:cs typeface="Proxima Nova"/>
                <a:sym typeface="Proxima Nova"/>
              </a:rPr>
              <a:t> Raison d’être, vision et stratégie</a:t>
            </a:r>
            <a:endParaRPr sz="1800">
              <a:solidFill>
                <a:schemeClr val="accent3"/>
              </a:solidFill>
              <a:latin typeface="Proxima Nova"/>
              <a:ea typeface="Proxima Nova"/>
              <a:cs typeface="Proxima Nova"/>
              <a:sym typeface="Proxima Nova"/>
            </a:endParaRPr>
          </a:p>
        </p:txBody>
      </p:sp>
      <p:sp>
        <p:nvSpPr>
          <p:cNvPr id="244" name="Google Shape;244;p41"/>
          <p:cNvSpPr txBox="1"/>
          <p:nvPr/>
        </p:nvSpPr>
        <p:spPr>
          <a:xfrm>
            <a:off x="311700" y="1759375"/>
            <a:ext cx="3989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Une raison d’être qui inspire</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Une vision ambitieuse</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Une stratégie qui aboutit</a:t>
            </a:r>
            <a:endParaRPr sz="1100">
              <a:solidFill>
                <a:srgbClr val="666666"/>
              </a:solidFill>
            </a:endParaRPr>
          </a:p>
        </p:txBody>
      </p:sp>
      <p:sp>
        <p:nvSpPr>
          <p:cNvPr id="245" name="Google Shape;245;p41"/>
          <p:cNvSpPr txBox="1"/>
          <p:nvPr/>
        </p:nvSpPr>
        <p:spPr>
          <a:xfrm>
            <a:off x="4643700" y="1759375"/>
            <a:ext cx="4188600" cy="170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sz="1100">
              <a:solidFill>
                <a:srgbClr val="666666"/>
              </a:solidFill>
            </a:endParaRPr>
          </a:p>
          <a:p>
            <a:pPr indent="0" lvl="0" marL="0" rtl="0" algn="l">
              <a:spcBef>
                <a:spcPts val="800"/>
              </a:spcBef>
              <a:spcAft>
                <a:spcPts val="0"/>
              </a:spcAft>
              <a:buNone/>
            </a:pPr>
            <a:r>
              <a:rPr lang="fr" sz="1100">
                <a:solidFill>
                  <a:srgbClr val="666666"/>
                </a:solidFill>
              </a:rPr>
              <a:t>Définir les points suivants :</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Pourquoi l’activité est importante</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Le domaine dans lequel la valeur est créée</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Le cadre de responsabilité de l’activité</a:t>
            </a:r>
            <a:endParaRPr sz="1100">
              <a:solidFill>
                <a:srgbClr val="666666"/>
              </a:solidFill>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a:t>
            </a:r>
            <a:r>
              <a:rPr lang="fr">
                <a:solidFill>
                  <a:srgbClr val="FFFFFF"/>
                </a:solidFill>
                <a:highlight>
                  <a:srgbClr val="3D85C6"/>
                </a:highlight>
              </a:rPr>
              <a:t>orientation</a:t>
            </a:r>
            <a:endParaRPr>
              <a:solidFill>
                <a:srgbClr val="FFFFFF"/>
              </a:solidFill>
              <a:highlight>
                <a:srgbClr val="3D85C6"/>
              </a:highlight>
            </a:endParaRPr>
          </a:p>
        </p:txBody>
      </p:sp>
      <p:sp>
        <p:nvSpPr>
          <p:cNvPr id="251" name="Google Shape;251;p42"/>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3D85C6"/>
                </a:solidFill>
                <a:latin typeface="Proxima Nova"/>
                <a:ea typeface="Proxima Nova"/>
                <a:cs typeface="Proxima Nova"/>
                <a:sym typeface="Proxima Nova"/>
              </a:rPr>
              <a:t>C.2</a:t>
            </a:r>
            <a:r>
              <a:rPr lang="fr" sz="1800">
                <a:solidFill>
                  <a:schemeClr val="accent3"/>
                </a:solidFill>
                <a:latin typeface="Proxima Nova"/>
                <a:ea typeface="Proxima Nova"/>
                <a:cs typeface="Proxima Nova"/>
                <a:sym typeface="Proxima Nova"/>
              </a:rPr>
              <a:t> </a:t>
            </a:r>
            <a:r>
              <a:rPr lang="fr" sz="1800">
                <a:solidFill>
                  <a:schemeClr val="accent3"/>
                </a:solidFill>
                <a:latin typeface="Proxima Nova"/>
                <a:ea typeface="Proxima Nova"/>
                <a:cs typeface="Proxima Nova"/>
                <a:sym typeface="Proxima Nova"/>
              </a:rPr>
              <a:t>Culture et leadership</a:t>
            </a:r>
            <a:endParaRPr sz="1800">
              <a:solidFill>
                <a:schemeClr val="accent3"/>
              </a:solidFill>
              <a:latin typeface="Proxima Nova"/>
              <a:ea typeface="Proxima Nova"/>
              <a:cs typeface="Proxima Nova"/>
              <a:sym typeface="Proxima Nova"/>
            </a:endParaRPr>
          </a:p>
        </p:txBody>
      </p:sp>
      <p:sp>
        <p:nvSpPr>
          <p:cNvPr id="252" name="Google Shape;252;p42"/>
          <p:cNvSpPr txBox="1"/>
          <p:nvPr/>
        </p:nvSpPr>
        <p:spPr>
          <a:xfrm>
            <a:off x="311700" y="1759375"/>
            <a:ext cx="3989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Valeurs et normes définies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Définition de l’interaction entre les personnes et les groupes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Le leadership incarne ces valeurs, normes et interactions</a:t>
            </a:r>
            <a:endParaRPr sz="1100">
              <a:solidFill>
                <a:srgbClr val="666666"/>
              </a:solidFill>
            </a:endParaRPr>
          </a:p>
        </p:txBody>
      </p:sp>
      <p:sp>
        <p:nvSpPr>
          <p:cNvPr id="253" name="Google Shape;253;p42"/>
          <p:cNvSpPr txBox="1"/>
          <p:nvPr/>
        </p:nvSpPr>
        <p:spPr>
          <a:xfrm>
            <a:off x="4643700" y="1759375"/>
            <a:ext cx="4188600" cy="167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Développer la culture et les valeurs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Créer les conditions pour la réussite et le changement</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Favoriser la créativité et l’innovation</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Mobiliser et engager dans la raison d’être, la vision et la stratégie</a:t>
            </a:r>
            <a:endParaRPr sz="1100">
              <a:solidFill>
                <a:srgbClr val="666666"/>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de </a:t>
            </a:r>
            <a:r>
              <a:rPr lang="fr">
                <a:solidFill>
                  <a:srgbClr val="FFFFFF"/>
                </a:solidFill>
                <a:highlight>
                  <a:srgbClr val="674EA7"/>
                </a:highlight>
              </a:rPr>
              <a:t>opérations</a:t>
            </a:r>
            <a:endParaRPr>
              <a:solidFill>
                <a:srgbClr val="FFFFFF"/>
              </a:solidFill>
              <a:highlight>
                <a:srgbClr val="674EA7"/>
              </a:highlight>
            </a:endParaRPr>
          </a:p>
        </p:txBody>
      </p:sp>
      <p:sp>
        <p:nvSpPr>
          <p:cNvPr id="259" name="Google Shape;259;p43"/>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674EA7"/>
                </a:solidFill>
                <a:latin typeface="Proxima Nova"/>
                <a:ea typeface="Proxima Nova"/>
                <a:cs typeface="Proxima Nova"/>
                <a:sym typeface="Proxima Nova"/>
              </a:rPr>
              <a:t>C.3</a:t>
            </a:r>
            <a:r>
              <a:rPr lang="fr" sz="1800">
                <a:solidFill>
                  <a:schemeClr val="accent3"/>
                </a:solidFill>
                <a:latin typeface="Proxima Nova"/>
                <a:ea typeface="Proxima Nova"/>
                <a:cs typeface="Proxima Nova"/>
                <a:sym typeface="Proxima Nova"/>
              </a:rPr>
              <a:t> </a:t>
            </a:r>
            <a:r>
              <a:rPr lang="fr" sz="1800">
                <a:solidFill>
                  <a:schemeClr val="accent3"/>
                </a:solidFill>
                <a:latin typeface="Proxima Nova"/>
                <a:ea typeface="Proxima Nova"/>
                <a:cs typeface="Proxima Nova"/>
                <a:sym typeface="Proxima Nova"/>
              </a:rPr>
              <a:t>Engagement des parties prenantes</a:t>
            </a:r>
            <a:endParaRPr sz="1800">
              <a:solidFill>
                <a:schemeClr val="accent3"/>
              </a:solidFill>
              <a:latin typeface="Proxima Nova"/>
              <a:ea typeface="Proxima Nova"/>
              <a:cs typeface="Proxima Nova"/>
              <a:sym typeface="Proxima Nova"/>
            </a:endParaRPr>
          </a:p>
        </p:txBody>
      </p:sp>
      <p:sp>
        <p:nvSpPr>
          <p:cNvPr id="260" name="Google Shape;260;p43"/>
          <p:cNvSpPr txBox="1"/>
          <p:nvPr/>
        </p:nvSpPr>
        <p:spPr>
          <a:xfrm>
            <a:off x="311700" y="1759375"/>
            <a:ext cx="3989700" cy="90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Impliquer les parties prenantes pour les fidéliser</a:t>
            </a:r>
            <a:endParaRPr sz="1100">
              <a:solidFill>
                <a:srgbClr val="666666"/>
              </a:solidFill>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261" name="Google Shape;261;p43"/>
          <p:cNvSpPr txBox="1"/>
          <p:nvPr/>
        </p:nvSpPr>
        <p:spPr>
          <a:xfrm>
            <a:off x="4643700" y="1759375"/>
            <a:ext cx="4188600" cy="211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Identifier les groupes de parties prenantes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Comprendre leurs besoins et leurs attentes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Construire, maintenir et développer une relation de confiance</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Collection active de retours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Mise en place des actions appropriés pour sécuriser son futur</a:t>
            </a:r>
            <a:endParaRPr sz="1100">
              <a:solidFill>
                <a:srgbClr val="66666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de </a:t>
            </a:r>
            <a:r>
              <a:rPr lang="fr">
                <a:solidFill>
                  <a:srgbClr val="FFFFFF"/>
                </a:solidFill>
                <a:highlight>
                  <a:srgbClr val="674EA7"/>
                </a:highlight>
              </a:rPr>
              <a:t>opérations</a:t>
            </a:r>
            <a:endParaRPr>
              <a:solidFill>
                <a:srgbClr val="FFFFFF"/>
              </a:solidFill>
              <a:highlight>
                <a:srgbClr val="674EA7"/>
              </a:highlight>
            </a:endParaRPr>
          </a:p>
        </p:txBody>
      </p:sp>
      <p:sp>
        <p:nvSpPr>
          <p:cNvPr id="267" name="Google Shape;267;p44"/>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674EA7"/>
                </a:solidFill>
                <a:latin typeface="Proxima Nova"/>
                <a:ea typeface="Proxima Nova"/>
                <a:cs typeface="Proxima Nova"/>
                <a:sym typeface="Proxima Nova"/>
              </a:rPr>
              <a:t>C.4</a:t>
            </a:r>
            <a:r>
              <a:rPr lang="fr" sz="1800">
                <a:solidFill>
                  <a:schemeClr val="accent3"/>
                </a:solidFill>
                <a:latin typeface="Proxima Nova"/>
                <a:ea typeface="Proxima Nova"/>
                <a:cs typeface="Proxima Nova"/>
                <a:sym typeface="Proxima Nova"/>
              </a:rPr>
              <a:t> </a:t>
            </a:r>
            <a:r>
              <a:rPr lang="fr" sz="1800">
                <a:solidFill>
                  <a:schemeClr val="accent3"/>
                </a:solidFill>
                <a:latin typeface="Proxima Nova"/>
                <a:ea typeface="Proxima Nova"/>
                <a:cs typeface="Proxima Nova"/>
                <a:sym typeface="Proxima Nova"/>
              </a:rPr>
              <a:t>Création de valeur durable</a:t>
            </a:r>
            <a:endParaRPr sz="1800">
              <a:solidFill>
                <a:schemeClr val="accent3"/>
              </a:solidFill>
              <a:latin typeface="Proxima Nova"/>
              <a:ea typeface="Proxima Nova"/>
              <a:cs typeface="Proxima Nova"/>
              <a:sym typeface="Proxima Nova"/>
            </a:endParaRPr>
          </a:p>
        </p:txBody>
      </p:sp>
      <p:sp>
        <p:nvSpPr>
          <p:cNvPr id="268" name="Google Shape;268;p44"/>
          <p:cNvSpPr txBox="1"/>
          <p:nvPr/>
        </p:nvSpPr>
        <p:spPr>
          <a:xfrm>
            <a:off x="311700" y="1759375"/>
            <a:ext cx="3989700" cy="102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La création de valeur durable est vitale pour le succès à long terme de l’organisation ainsi que sa solidité financière</a:t>
            </a:r>
            <a:endParaRPr>
              <a:latin typeface="Proxima Nova"/>
              <a:ea typeface="Proxima Nova"/>
              <a:cs typeface="Proxima Nova"/>
              <a:sym typeface="Proxima Nova"/>
            </a:endParaRPr>
          </a:p>
        </p:txBody>
      </p:sp>
      <p:sp>
        <p:nvSpPr>
          <p:cNvPr id="269" name="Google Shape;269;p44"/>
          <p:cNvSpPr txBox="1"/>
          <p:nvPr/>
        </p:nvSpPr>
        <p:spPr>
          <a:xfrm>
            <a:off x="4643700" y="1759375"/>
            <a:ext cx="4188600" cy="187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298450" lvl="0" marL="457200" rtl="0" algn="l">
              <a:spcBef>
                <a:spcPts val="800"/>
              </a:spcBef>
              <a:spcAft>
                <a:spcPts val="0"/>
              </a:spcAft>
              <a:buClr>
                <a:srgbClr val="666666"/>
              </a:buClr>
              <a:buSzPts val="1100"/>
              <a:buChar char="●"/>
            </a:pPr>
            <a:r>
              <a:rPr lang="fr" sz="1100">
                <a:solidFill>
                  <a:srgbClr val="666666"/>
                </a:solidFill>
              </a:rPr>
              <a:t>Cibler les clients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S’adapter aux changements des besoins des parties prenantes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Collecte de leurs avis et opinions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Amélioration des produits, service et solutions</a:t>
            </a:r>
            <a:endParaRPr sz="1100">
              <a:solidFill>
                <a:srgbClr val="666666"/>
              </a:solidFill>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de </a:t>
            </a:r>
            <a:r>
              <a:rPr lang="fr">
                <a:solidFill>
                  <a:srgbClr val="FFFFFF"/>
                </a:solidFill>
                <a:highlight>
                  <a:srgbClr val="674EA7"/>
                </a:highlight>
              </a:rPr>
              <a:t>opération</a:t>
            </a:r>
            <a:r>
              <a:rPr lang="fr">
                <a:solidFill>
                  <a:srgbClr val="FFFFFF"/>
                </a:solidFill>
                <a:highlight>
                  <a:srgbClr val="674EA7"/>
                </a:highlight>
              </a:rPr>
              <a:t>s</a:t>
            </a:r>
            <a:endParaRPr>
              <a:solidFill>
                <a:srgbClr val="FFFFFF"/>
              </a:solidFill>
              <a:highlight>
                <a:srgbClr val="674EA7"/>
              </a:highlight>
            </a:endParaRPr>
          </a:p>
        </p:txBody>
      </p:sp>
      <p:sp>
        <p:nvSpPr>
          <p:cNvPr id="275" name="Google Shape;275;p45"/>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674EA7"/>
                </a:solidFill>
                <a:latin typeface="Proxima Nova"/>
                <a:ea typeface="Proxima Nova"/>
                <a:cs typeface="Proxima Nova"/>
                <a:sym typeface="Proxima Nova"/>
              </a:rPr>
              <a:t>C.5</a:t>
            </a:r>
            <a:r>
              <a:rPr lang="fr" sz="1800">
                <a:solidFill>
                  <a:schemeClr val="accent3"/>
                </a:solidFill>
                <a:latin typeface="Proxima Nova"/>
                <a:ea typeface="Proxima Nova"/>
                <a:cs typeface="Proxima Nova"/>
                <a:sym typeface="Proxima Nova"/>
              </a:rPr>
              <a:t> </a:t>
            </a:r>
            <a:r>
              <a:rPr lang="fr" sz="1800">
                <a:solidFill>
                  <a:schemeClr val="accent3"/>
                </a:solidFill>
                <a:latin typeface="Proxima Nova"/>
                <a:ea typeface="Proxima Nova"/>
                <a:cs typeface="Proxima Nova"/>
                <a:sym typeface="Proxima Nova"/>
              </a:rPr>
              <a:t>Pilotage de la performance et conduite de la transformation</a:t>
            </a:r>
            <a:endParaRPr sz="1800">
              <a:solidFill>
                <a:schemeClr val="accent3"/>
              </a:solidFill>
              <a:latin typeface="Proxima Nova"/>
              <a:ea typeface="Proxima Nova"/>
              <a:cs typeface="Proxima Nova"/>
              <a:sym typeface="Proxima Nova"/>
            </a:endParaRPr>
          </a:p>
        </p:txBody>
      </p:sp>
      <p:sp>
        <p:nvSpPr>
          <p:cNvPr id="276" name="Google Shape;276;p45"/>
          <p:cNvSpPr txBox="1"/>
          <p:nvPr/>
        </p:nvSpPr>
        <p:spPr>
          <a:xfrm>
            <a:off x="311700" y="1759375"/>
            <a:ext cx="3989700" cy="115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298450" lvl="0" marL="457200" rtl="0" algn="l">
              <a:spcBef>
                <a:spcPts val="800"/>
              </a:spcBef>
              <a:spcAft>
                <a:spcPts val="0"/>
              </a:spcAft>
              <a:buClr>
                <a:srgbClr val="666666"/>
              </a:buClr>
              <a:buSzPts val="1100"/>
              <a:buChar char="●"/>
            </a:pPr>
            <a:r>
              <a:rPr lang="fr" sz="1100">
                <a:solidFill>
                  <a:srgbClr val="666666"/>
                </a:solidFill>
              </a:rPr>
              <a:t>Répondre aux attentes de ses clients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S’adapter aux changements de son environnement</a:t>
            </a:r>
            <a:endParaRPr sz="1100">
              <a:solidFill>
                <a:srgbClr val="666666"/>
              </a:solidFill>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277" name="Google Shape;277;p45"/>
          <p:cNvSpPr txBox="1"/>
          <p:nvPr/>
        </p:nvSpPr>
        <p:spPr>
          <a:xfrm>
            <a:off x="4643700" y="1759375"/>
            <a:ext cx="4188600" cy="19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298450" lvl="0" marL="457200" rtl="0" algn="l">
              <a:spcBef>
                <a:spcPts val="800"/>
              </a:spcBef>
              <a:spcAft>
                <a:spcPts val="0"/>
              </a:spcAft>
              <a:buClr>
                <a:srgbClr val="666666"/>
              </a:buClr>
              <a:buSzPts val="1100"/>
              <a:buChar char="●"/>
            </a:pPr>
            <a:r>
              <a:rPr lang="fr" sz="1100">
                <a:solidFill>
                  <a:srgbClr val="666666"/>
                </a:solidFill>
              </a:rPr>
              <a:t>Assurer le quotidien</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Préparant le futur</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L'innovation et la technologie</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Les données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Utilisation intelligente des ressources</a:t>
            </a:r>
            <a:endParaRPr sz="1100">
              <a:solidFill>
                <a:srgbClr val="666666"/>
              </a:solidFill>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de </a:t>
            </a:r>
            <a:r>
              <a:rPr lang="fr">
                <a:solidFill>
                  <a:srgbClr val="FFFFFF"/>
                </a:solidFill>
                <a:highlight>
                  <a:srgbClr val="6AA84F"/>
                </a:highlight>
              </a:rPr>
              <a:t>résultats</a:t>
            </a:r>
            <a:endParaRPr>
              <a:solidFill>
                <a:srgbClr val="FFFFFF"/>
              </a:solidFill>
              <a:highlight>
                <a:srgbClr val="6AA84F"/>
              </a:highlight>
            </a:endParaRPr>
          </a:p>
        </p:txBody>
      </p:sp>
      <p:sp>
        <p:nvSpPr>
          <p:cNvPr id="283" name="Google Shape;283;p46"/>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6AA84F"/>
                </a:solidFill>
                <a:latin typeface="Proxima Nova"/>
                <a:ea typeface="Proxima Nova"/>
                <a:cs typeface="Proxima Nova"/>
                <a:sym typeface="Proxima Nova"/>
              </a:rPr>
              <a:t>C.6</a:t>
            </a:r>
            <a:r>
              <a:rPr lang="fr" sz="1800">
                <a:solidFill>
                  <a:schemeClr val="accent3"/>
                </a:solidFill>
                <a:latin typeface="Proxima Nova"/>
                <a:ea typeface="Proxima Nova"/>
                <a:cs typeface="Proxima Nova"/>
                <a:sym typeface="Proxima Nova"/>
              </a:rPr>
              <a:t> Perceptions des parties prenantes</a:t>
            </a:r>
            <a:endParaRPr>
              <a:latin typeface="Proxima Nova"/>
              <a:ea typeface="Proxima Nova"/>
              <a:cs typeface="Proxima Nova"/>
              <a:sym typeface="Proxima Nova"/>
            </a:endParaRPr>
          </a:p>
        </p:txBody>
      </p:sp>
      <p:sp>
        <p:nvSpPr>
          <p:cNvPr id="284" name="Google Shape;284;p46"/>
          <p:cNvSpPr txBox="1"/>
          <p:nvPr/>
        </p:nvSpPr>
        <p:spPr>
          <a:xfrm>
            <a:off x="311700" y="1759375"/>
            <a:ext cx="3989700" cy="232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Capable de reconnaître la valeur ajoutée qui saura intéresser les parties prenantes clés et ainsi orienter la stratégie en conséquent.</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Utilise les données sur les performances actuelles de réaliser une projection prévisionnelle sur le futur.</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Garde une veille sur la perception des parties prenants et détecter ainsi toute fluctuation annonçant un changement du marché.</a:t>
            </a:r>
            <a:endParaRPr sz="1100">
              <a:solidFill>
                <a:srgbClr val="666666"/>
              </a:solidFill>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285" name="Google Shape;285;p46"/>
          <p:cNvSpPr txBox="1"/>
          <p:nvPr/>
        </p:nvSpPr>
        <p:spPr>
          <a:xfrm>
            <a:off x="4643700" y="1759375"/>
            <a:ext cx="4188600" cy="222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Résultats de perceptions clients</a:t>
            </a:r>
            <a:endParaRPr sz="12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Résultats de perceptions personnel</a:t>
            </a:r>
            <a:endParaRPr sz="12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Résultats de perceptions parties prenantes économiques et institutionnelles</a:t>
            </a:r>
            <a:endParaRPr sz="12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Résultats de perceptions société</a:t>
            </a:r>
            <a:endParaRPr sz="12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Résultats de perceptions partenaires et fournisseurs</a:t>
            </a:r>
            <a:endParaRPr sz="1100">
              <a:solidFill>
                <a:srgbClr val="666666"/>
              </a:solidFill>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Critères de </a:t>
            </a:r>
            <a:r>
              <a:rPr lang="fr">
                <a:solidFill>
                  <a:srgbClr val="FFFFFF"/>
                </a:solidFill>
                <a:highlight>
                  <a:srgbClr val="6AA84F"/>
                </a:highlight>
              </a:rPr>
              <a:t>résultats</a:t>
            </a:r>
            <a:endParaRPr>
              <a:solidFill>
                <a:srgbClr val="FFFFFF"/>
              </a:solidFill>
              <a:highlight>
                <a:srgbClr val="6AA84F"/>
              </a:highlight>
            </a:endParaRPr>
          </a:p>
        </p:txBody>
      </p:sp>
      <p:sp>
        <p:nvSpPr>
          <p:cNvPr id="291" name="Google Shape;291;p47"/>
          <p:cNvSpPr txBox="1"/>
          <p:nvPr/>
        </p:nvSpPr>
        <p:spPr>
          <a:xfrm>
            <a:off x="311700" y="1017725"/>
            <a:ext cx="6792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fr" sz="1800">
                <a:solidFill>
                  <a:srgbClr val="6AA84F"/>
                </a:solidFill>
                <a:latin typeface="Proxima Nova"/>
                <a:ea typeface="Proxima Nova"/>
                <a:cs typeface="Proxima Nova"/>
                <a:sym typeface="Proxima Nova"/>
              </a:rPr>
              <a:t>C.7</a:t>
            </a:r>
            <a:r>
              <a:rPr lang="fr" sz="1800">
                <a:solidFill>
                  <a:schemeClr val="accent3"/>
                </a:solidFill>
                <a:latin typeface="Proxima Nova"/>
                <a:ea typeface="Proxima Nova"/>
                <a:cs typeface="Proxima Nova"/>
                <a:sym typeface="Proxima Nova"/>
              </a:rPr>
              <a:t> </a:t>
            </a:r>
            <a:r>
              <a:rPr lang="fr" sz="1800">
                <a:solidFill>
                  <a:schemeClr val="accent3"/>
                </a:solidFill>
                <a:latin typeface="Proxima Nova"/>
                <a:ea typeface="Proxima Nova"/>
                <a:cs typeface="Proxima Nova"/>
                <a:sym typeface="Proxima Nova"/>
              </a:rPr>
              <a:t>Performances stratégiques et opérationnelles</a:t>
            </a:r>
            <a:endParaRPr sz="1800">
              <a:solidFill>
                <a:schemeClr val="accent3"/>
              </a:solidFill>
              <a:latin typeface="Proxima Nova"/>
              <a:ea typeface="Proxima Nova"/>
              <a:cs typeface="Proxima Nova"/>
              <a:sym typeface="Proxima Nova"/>
            </a:endParaRPr>
          </a:p>
        </p:txBody>
      </p:sp>
      <p:sp>
        <p:nvSpPr>
          <p:cNvPr id="292" name="Google Shape;292;p47"/>
          <p:cNvSpPr txBox="1"/>
          <p:nvPr/>
        </p:nvSpPr>
        <p:spPr>
          <a:xfrm>
            <a:off x="311700" y="1759375"/>
            <a:ext cx="3989700" cy="316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Attentes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Utiliser des indicateurs financiers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Comprendre le lien entre perception des parties prenantes et performances. Prévoir l’évolution de ses performances.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Choisir les meilleurs indicateurs issues de ses parties prenantes pour surveiller l’évolution de ses objectifs stratégiques</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Identifier l’origine des changements de la performance de l’entreprise. En effectuer la veile et ajuster sa stratégie en fonction.</a:t>
            </a:r>
            <a:endParaRPr sz="1100">
              <a:solidFill>
                <a:srgbClr val="666666"/>
              </a:solidFill>
            </a:endParaRPr>
          </a:p>
          <a:p>
            <a:pPr indent="-298450" lvl="0" marL="457200" rtl="0" algn="l">
              <a:spcBef>
                <a:spcPts val="800"/>
              </a:spcBef>
              <a:spcAft>
                <a:spcPts val="0"/>
              </a:spcAft>
              <a:buClr>
                <a:srgbClr val="666666"/>
              </a:buClr>
              <a:buSzPts val="1100"/>
              <a:buChar char="●"/>
            </a:pPr>
            <a:r>
              <a:rPr lang="fr" sz="1100">
                <a:solidFill>
                  <a:srgbClr val="666666"/>
                </a:solidFill>
              </a:rPr>
              <a:t>Anticiper précisément ses performances futures grâce au listage des objectifs atteints.</a:t>
            </a:r>
            <a:endParaRPr sz="1100">
              <a:solidFill>
                <a:srgbClr val="666666"/>
              </a:solidFill>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293" name="Google Shape;293;p47"/>
          <p:cNvSpPr txBox="1"/>
          <p:nvPr/>
        </p:nvSpPr>
        <p:spPr>
          <a:xfrm>
            <a:off x="4643700" y="1759375"/>
            <a:ext cx="4188600" cy="27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Mise en oeuvre</a:t>
            </a:r>
            <a:endParaRPr>
              <a:latin typeface="Proxima Nova"/>
              <a:ea typeface="Proxima Nova"/>
              <a:cs typeface="Proxima Nova"/>
              <a:sym typeface="Proxima Nova"/>
            </a:endParaRPr>
          </a:p>
          <a:p>
            <a:pPr indent="-304800" lvl="0" marL="457200" rtl="0" algn="l">
              <a:spcBef>
                <a:spcPts val="800"/>
              </a:spcBef>
              <a:spcAft>
                <a:spcPts val="0"/>
              </a:spcAft>
              <a:buClr>
                <a:srgbClr val="666666"/>
              </a:buClr>
              <a:buSzPts val="1200"/>
              <a:buChar char="●"/>
            </a:pPr>
            <a:r>
              <a:rPr lang="fr" sz="1100">
                <a:solidFill>
                  <a:srgbClr val="666666"/>
                </a:solidFill>
              </a:rPr>
              <a:t>Les réalisations en termes d’atteinte de sa raison d’être et de création de valeur durable</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La performance financière</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Le respect des attentes de ses parties prenantes clés</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La réalisation des objectifs stratégiques</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Les réalisations dans le pilotage de la performance</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Les réalisations dans la conduite de la transformation</a:t>
            </a:r>
            <a:endParaRPr sz="1100">
              <a:solidFill>
                <a:srgbClr val="666666"/>
              </a:solidFill>
            </a:endParaRPr>
          </a:p>
          <a:p>
            <a:pPr indent="-304800" lvl="0" marL="457200" rtl="0" algn="l">
              <a:spcBef>
                <a:spcPts val="800"/>
              </a:spcBef>
              <a:spcAft>
                <a:spcPts val="0"/>
              </a:spcAft>
              <a:buClr>
                <a:srgbClr val="666666"/>
              </a:buClr>
              <a:buSzPts val="1200"/>
              <a:buChar char="●"/>
            </a:pPr>
            <a:r>
              <a:rPr lang="fr" sz="1100">
                <a:solidFill>
                  <a:srgbClr val="666666"/>
                </a:solidFill>
              </a:rPr>
              <a:t>Les mesures prédictives pour le futur.</a:t>
            </a:r>
            <a:endParaRPr sz="1100">
              <a:solidFill>
                <a:srgbClr val="666666"/>
              </a:solidFill>
            </a:endParaRPr>
          </a:p>
          <a:p>
            <a:pPr indent="0" lvl="0" marL="0" rtl="0" algn="l">
              <a:spcBef>
                <a:spcPts val="0"/>
              </a:spcBef>
              <a:spcAft>
                <a:spcPts val="0"/>
              </a:spcAft>
              <a:buNone/>
            </a:pPr>
            <a:r>
              <a:t/>
            </a:r>
            <a:endParaRPr>
              <a:solidFill>
                <a:srgbClr val="666666"/>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4. L’outil de diagnostic RADAR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L’outil de diagnostic RADAR</a:t>
            </a:r>
            <a:endParaRPr/>
          </a:p>
        </p:txBody>
      </p:sp>
      <p:pic>
        <p:nvPicPr>
          <p:cNvPr id="304" name="Google Shape;304;p49"/>
          <p:cNvPicPr preferRelativeResize="0"/>
          <p:nvPr/>
        </p:nvPicPr>
        <p:blipFill>
          <a:blip r:embed="rId3">
            <a:alphaModFix/>
          </a:blip>
          <a:stretch>
            <a:fillRect/>
          </a:stretch>
        </p:blipFill>
        <p:spPr>
          <a:xfrm>
            <a:off x="1186028" y="1304878"/>
            <a:ext cx="5897700" cy="3074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5. Les prix et récompenses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l’Afnor</a:t>
            </a:r>
            <a:endParaRPr/>
          </a:p>
        </p:txBody>
      </p:sp>
      <p:pic>
        <p:nvPicPr>
          <p:cNvPr id="315" name="Google Shape;315;p51"/>
          <p:cNvPicPr preferRelativeResize="0"/>
          <p:nvPr/>
        </p:nvPicPr>
        <p:blipFill>
          <a:blip r:embed="rId3">
            <a:alphaModFix/>
          </a:blip>
          <a:stretch>
            <a:fillRect/>
          </a:stretch>
        </p:blipFill>
        <p:spPr>
          <a:xfrm>
            <a:off x="7305325" y="415075"/>
            <a:ext cx="1526975" cy="632600"/>
          </a:xfrm>
          <a:prstGeom prst="rect">
            <a:avLst/>
          </a:prstGeom>
          <a:noFill/>
          <a:ln>
            <a:noFill/>
          </a:ln>
        </p:spPr>
      </p:pic>
      <p:pic>
        <p:nvPicPr>
          <p:cNvPr id="316" name="Google Shape;316;p51"/>
          <p:cNvPicPr preferRelativeResize="0"/>
          <p:nvPr/>
        </p:nvPicPr>
        <p:blipFill>
          <a:blip r:embed="rId4">
            <a:alphaModFix/>
          </a:blip>
          <a:stretch>
            <a:fillRect/>
          </a:stretch>
        </p:blipFill>
        <p:spPr>
          <a:xfrm>
            <a:off x="1536625" y="1824050"/>
            <a:ext cx="2095500" cy="1495425"/>
          </a:xfrm>
          <a:prstGeom prst="rect">
            <a:avLst/>
          </a:prstGeom>
          <a:noFill/>
          <a:ln>
            <a:noFill/>
          </a:ln>
        </p:spPr>
      </p:pic>
      <p:pic>
        <p:nvPicPr>
          <p:cNvPr id="317" name="Google Shape;317;p51"/>
          <p:cNvPicPr preferRelativeResize="0"/>
          <p:nvPr/>
        </p:nvPicPr>
        <p:blipFill>
          <a:blip r:embed="rId5">
            <a:alphaModFix/>
          </a:blip>
          <a:stretch>
            <a:fillRect/>
          </a:stretch>
        </p:blipFill>
        <p:spPr>
          <a:xfrm>
            <a:off x="5019325" y="1428750"/>
            <a:ext cx="2286000" cy="2286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l’Afnor</a:t>
            </a:r>
            <a:endParaRPr/>
          </a:p>
        </p:txBody>
      </p:sp>
      <p:sp>
        <p:nvSpPr>
          <p:cNvPr id="323" name="Google Shape;323;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0"/>
              </a:spcBef>
              <a:spcAft>
                <a:spcPts val="0"/>
              </a:spcAft>
              <a:buNone/>
            </a:pPr>
            <a:r>
              <a:rPr b="1" lang="fr"/>
              <a:t>A</a:t>
            </a:r>
            <a:r>
              <a:rPr lang="fr"/>
              <a:t>ssociation </a:t>
            </a:r>
            <a:r>
              <a:rPr b="1" lang="fr"/>
              <a:t>F</a:t>
            </a:r>
            <a:r>
              <a:rPr lang="fr"/>
              <a:t>rançaise de </a:t>
            </a:r>
            <a:r>
              <a:rPr b="1" lang="fr"/>
              <a:t>NOR</a:t>
            </a:r>
            <a:r>
              <a:rPr lang="fr"/>
              <a:t>malisation</a:t>
            </a:r>
            <a:endParaRPr/>
          </a:p>
          <a:p>
            <a:pPr indent="-342900" lvl="0" marL="457200" rtl="0" algn="l">
              <a:lnSpc>
                <a:spcPct val="150000"/>
              </a:lnSpc>
              <a:spcBef>
                <a:spcPts val="1200"/>
              </a:spcBef>
              <a:spcAft>
                <a:spcPts val="0"/>
              </a:spcAft>
              <a:buSzPts val="1800"/>
              <a:buChar char="●"/>
            </a:pPr>
            <a:r>
              <a:rPr lang="fr"/>
              <a:t>Créée</a:t>
            </a:r>
            <a:r>
              <a:rPr lang="fr"/>
              <a:t> en 1926</a:t>
            </a:r>
            <a:endParaRPr/>
          </a:p>
          <a:p>
            <a:pPr indent="-342900" lvl="0" marL="457200" rtl="0" algn="l">
              <a:lnSpc>
                <a:spcPct val="150000"/>
              </a:lnSpc>
              <a:spcBef>
                <a:spcPts val="0"/>
              </a:spcBef>
              <a:spcAft>
                <a:spcPts val="0"/>
              </a:spcAft>
              <a:buSzPts val="1800"/>
              <a:buChar char="●"/>
            </a:pPr>
            <a:r>
              <a:rPr lang="fr"/>
              <a:t>D'intérêt</a:t>
            </a:r>
            <a:r>
              <a:rPr lang="fr"/>
              <a:t> général et reconnue </a:t>
            </a:r>
            <a:r>
              <a:rPr lang="fr"/>
              <a:t>d'intérêt</a:t>
            </a:r>
            <a:r>
              <a:rPr lang="fr"/>
              <a:t> public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1"/>
                                        <p:tgtEl>
                                          <p:spTgt spid="3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animEffect filter="fade" transition="in">
                                      <p:cBhvr>
                                        <p:cTn dur="1"/>
                                        <p:tgtEl>
                                          <p:spTgt spid="3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animEffect filter="fade" transition="in">
                                      <p:cBhvr>
                                        <p:cTn dur="1"/>
                                        <p:tgtEl>
                                          <p:spTgt spid="32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Quelques normes connues</a:t>
            </a:r>
            <a:endParaRPr/>
          </a:p>
        </p:txBody>
      </p:sp>
      <p:graphicFrame>
        <p:nvGraphicFramePr>
          <p:cNvPr id="329" name="Google Shape;329;p53"/>
          <p:cNvGraphicFramePr/>
          <p:nvPr/>
        </p:nvGraphicFramePr>
        <p:xfrm>
          <a:off x="1635500" y="1548780"/>
          <a:ext cx="3000000" cy="3000000"/>
        </p:xfrm>
        <a:graphic>
          <a:graphicData uri="http://schemas.openxmlformats.org/drawingml/2006/table">
            <a:tbl>
              <a:tblPr>
                <a:noFill/>
                <a:tableStyleId>{A72FFE07-3AE0-4F52-82CA-C47B32F8FDE8}</a:tableStyleId>
              </a:tblPr>
              <a:tblGrid>
                <a:gridCol w="932450"/>
                <a:gridCol w="1099225"/>
                <a:gridCol w="3841325"/>
              </a:tblGrid>
              <a:tr h="681975">
                <a:tc>
                  <a:txBody>
                    <a:bodyPr/>
                    <a:lstStyle/>
                    <a:p>
                      <a:pPr indent="0" lvl="0" marL="0" rtl="0" algn="r">
                        <a:spcBef>
                          <a:spcPts val="0"/>
                        </a:spcBef>
                        <a:spcAft>
                          <a:spcPts val="0"/>
                        </a:spcAft>
                        <a:buNone/>
                      </a:pPr>
                      <a:r>
                        <a:rPr b="1" lang="fr" sz="2300">
                          <a:solidFill>
                            <a:srgbClr val="4A86E8"/>
                          </a:solidFill>
                          <a:latin typeface="Courier New"/>
                          <a:ea typeface="Courier New"/>
                          <a:cs typeface="Courier New"/>
                          <a:sym typeface="Courier New"/>
                        </a:rPr>
                        <a:t>ISO</a:t>
                      </a:r>
                      <a:endParaRPr b="1" sz="2300">
                        <a:solidFill>
                          <a:srgbClr val="4A86E8"/>
                        </a:solidFill>
                        <a:latin typeface="Courier New"/>
                        <a:ea typeface="Courier New"/>
                        <a:cs typeface="Courier New"/>
                        <a:sym typeface="Courier New"/>
                      </a:endParaRPr>
                    </a:p>
                  </a:txBody>
                  <a:tcPr marT="91425" marB="91425" marR="18000"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fr" sz="2300">
                          <a:solidFill>
                            <a:srgbClr val="4A86E8"/>
                          </a:solidFill>
                          <a:latin typeface="Courier New"/>
                          <a:ea typeface="Courier New"/>
                          <a:cs typeface="Courier New"/>
                          <a:sym typeface="Courier New"/>
                        </a:rPr>
                        <a:t>27001</a:t>
                      </a:r>
                      <a:endParaRPr b="1" sz="2300">
                        <a:solidFill>
                          <a:srgbClr val="4A86E8"/>
                        </a:solidFill>
                        <a:latin typeface="Courier New"/>
                        <a:ea typeface="Courier New"/>
                        <a:cs typeface="Courier New"/>
                        <a:sym typeface="Courier New"/>
                      </a:endParaRPr>
                    </a:p>
                  </a:txBody>
                  <a:tcPr marT="91425" marB="91425" marR="18000" marL="54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fr" sz="2300">
                          <a:solidFill>
                            <a:srgbClr val="666666"/>
                          </a:solidFill>
                          <a:latin typeface="Proxima Nova"/>
                          <a:ea typeface="Proxima Nova"/>
                          <a:cs typeface="Proxima Nova"/>
                          <a:sym typeface="Proxima Nova"/>
                        </a:rPr>
                        <a:t>Sécurité informatique</a:t>
                      </a:r>
                      <a:endParaRPr sz="2300">
                        <a:solidFill>
                          <a:srgbClr val="666666"/>
                        </a:solidFill>
                        <a:latin typeface="Proxima Nova"/>
                        <a:ea typeface="Proxima Nova"/>
                        <a:cs typeface="Proxima Nova"/>
                        <a:sym typeface="Proxima Nova"/>
                      </a:endParaRPr>
                    </a:p>
                  </a:txBody>
                  <a:tcPr marT="91425" marB="91425" marR="91425"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81975">
                <a:tc>
                  <a:txBody>
                    <a:bodyPr/>
                    <a:lstStyle/>
                    <a:p>
                      <a:pPr indent="0" lvl="0" marL="0" rtl="0" algn="r">
                        <a:spcBef>
                          <a:spcPts val="0"/>
                        </a:spcBef>
                        <a:spcAft>
                          <a:spcPts val="0"/>
                        </a:spcAft>
                        <a:buNone/>
                      </a:pPr>
                      <a:r>
                        <a:rPr b="1" lang="fr" sz="2300">
                          <a:solidFill>
                            <a:srgbClr val="4A86E8"/>
                          </a:solidFill>
                          <a:latin typeface="Courier New"/>
                          <a:ea typeface="Courier New"/>
                          <a:cs typeface="Courier New"/>
                          <a:sym typeface="Courier New"/>
                        </a:rPr>
                        <a:t>ISO</a:t>
                      </a:r>
                      <a:endParaRPr b="1" sz="2300">
                        <a:solidFill>
                          <a:srgbClr val="4A86E8"/>
                        </a:solidFill>
                        <a:latin typeface="Courier New"/>
                        <a:ea typeface="Courier New"/>
                        <a:cs typeface="Courier New"/>
                        <a:sym typeface="Courier New"/>
                      </a:endParaRPr>
                    </a:p>
                  </a:txBody>
                  <a:tcPr marT="91425" marB="91425" marR="18000"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fr" sz="2300">
                          <a:solidFill>
                            <a:srgbClr val="4A86E8"/>
                          </a:solidFill>
                          <a:latin typeface="Courier New"/>
                          <a:ea typeface="Courier New"/>
                          <a:cs typeface="Courier New"/>
                          <a:sym typeface="Courier New"/>
                        </a:rPr>
                        <a:t>3166</a:t>
                      </a:r>
                      <a:endParaRPr b="1" sz="2300">
                        <a:solidFill>
                          <a:srgbClr val="4A86E8"/>
                        </a:solidFill>
                        <a:latin typeface="Courier New"/>
                        <a:ea typeface="Courier New"/>
                        <a:cs typeface="Courier New"/>
                        <a:sym typeface="Courier New"/>
                      </a:endParaRPr>
                    </a:p>
                  </a:txBody>
                  <a:tcPr marT="91425" marB="91425" marR="18000" marL="54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fr" sz="2300">
                          <a:solidFill>
                            <a:srgbClr val="666666"/>
                          </a:solidFill>
                          <a:latin typeface="Proxima Nova"/>
                          <a:ea typeface="Proxima Nova"/>
                          <a:cs typeface="Proxima Nova"/>
                          <a:sym typeface="Proxima Nova"/>
                        </a:rPr>
                        <a:t>FR/GB/US</a:t>
                      </a:r>
                      <a:endParaRPr sz="2300">
                        <a:solidFill>
                          <a:srgbClr val="666666"/>
                        </a:solidFill>
                        <a:latin typeface="Proxima Nova"/>
                        <a:ea typeface="Proxima Nova"/>
                        <a:cs typeface="Proxima Nova"/>
                        <a:sym typeface="Proxima Nova"/>
                      </a:endParaRPr>
                    </a:p>
                  </a:txBody>
                  <a:tcPr marT="91425" marB="91425" marR="91425"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681975">
                <a:tc>
                  <a:txBody>
                    <a:bodyPr/>
                    <a:lstStyle/>
                    <a:p>
                      <a:pPr indent="0" lvl="0" marL="0" rtl="0" algn="r">
                        <a:spcBef>
                          <a:spcPts val="0"/>
                        </a:spcBef>
                        <a:spcAft>
                          <a:spcPts val="0"/>
                        </a:spcAft>
                        <a:buNone/>
                      </a:pPr>
                      <a:r>
                        <a:rPr b="1" lang="fr" sz="2300">
                          <a:solidFill>
                            <a:srgbClr val="4A86E8"/>
                          </a:solidFill>
                          <a:latin typeface="Courier New"/>
                          <a:ea typeface="Courier New"/>
                          <a:cs typeface="Courier New"/>
                          <a:sym typeface="Courier New"/>
                        </a:rPr>
                        <a:t>ISO</a:t>
                      </a:r>
                      <a:endParaRPr b="1" sz="2300">
                        <a:solidFill>
                          <a:srgbClr val="4A86E8"/>
                        </a:solidFill>
                        <a:latin typeface="Courier New"/>
                        <a:ea typeface="Courier New"/>
                        <a:cs typeface="Courier New"/>
                        <a:sym typeface="Courier New"/>
                      </a:endParaRPr>
                    </a:p>
                  </a:txBody>
                  <a:tcPr marT="91425" marB="91425" marR="18000"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fr" sz="2300">
                          <a:solidFill>
                            <a:srgbClr val="4A86E8"/>
                          </a:solidFill>
                          <a:latin typeface="Courier New"/>
                          <a:ea typeface="Courier New"/>
                          <a:cs typeface="Courier New"/>
                          <a:sym typeface="Courier New"/>
                        </a:rPr>
                        <a:t>8601</a:t>
                      </a:r>
                      <a:endParaRPr b="1" sz="2300">
                        <a:solidFill>
                          <a:srgbClr val="4A86E8"/>
                        </a:solidFill>
                        <a:latin typeface="Courier New"/>
                        <a:ea typeface="Courier New"/>
                        <a:cs typeface="Courier New"/>
                        <a:sym typeface="Courier New"/>
                      </a:endParaRPr>
                    </a:p>
                  </a:txBody>
                  <a:tcPr marT="91425" marB="91425" marR="18000" marL="54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fr" sz="2300">
                          <a:solidFill>
                            <a:srgbClr val="666666"/>
                          </a:solidFill>
                          <a:latin typeface="Proxima Nova"/>
                          <a:ea typeface="Proxima Nova"/>
                          <a:cs typeface="Proxima Nova"/>
                          <a:sym typeface="Proxima Nova"/>
                        </a:rPr>
                        <a:t>1977-04-22T01:00:00-05:00</a:t>
                      </a:r>
                      <a:endParaRPr sz="2300">
                        <a:solidFill>
                          <a:srgbClr val="666666"/>
                        </a:solidFill>
                        <a:latin typeface="Proxima Nova"/>
                        <a:ea typeface="Proxima Nova"/>
                        <a:cs typeface="Proxima Nova"/>
                        <a:sym typeface="Proxima Nova"/>
                      </a:endParaRPr>
                    </a:p>
                  </a:txBody>
                  <a:tcPr marT="91425" marB="91425" marR="91425" marL="180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Formations</a:t>
            </a:r>
            <a:endParaRPr/>
          </a:p>
        </p:txBody>
      </p:sp>
      <p:grpSp>
        <p:nvGrpSpPr>
          <p:cNvPr id="335" name="Google Shape;335;p54"/>
          <p:cNvGrpSpPr/>
          <p:nvPr/>
        </p:nvGrpSpPr>
        <p:grpSpPr>
          <a:xfrm>
            <a:off x="1852556" y="1536075"/>
            <a:ext cx="5438888" cy="2230500"/>
            <a:chOff x="1876875" y="1459875"/>
            <a:chExt cx="5438888" cy="2230500"/>
          </a:xfrm>
        </p:grpSpPr>
        <p:grpSp>
          <p:nvGrpSpPr>
            <p:cNvPr id="336" name="Google Shape;336;p54"/>
            <p:cNvGrpSpPr/>
            <p:nvPr/>
          </p:nvGrpSpPr>
          <p:grpSpPr>
            <a:xfrm>
              <a:off x="1876875" y="1459875"/>
              <a:ext cx="2259963" cy="2223750"/>
              <a:chOff x="5238837" y="1806000"/>
              <a:chExt cx="2259963" cy="2223750"/>
            </a:xfrm>
          </p:grpSpPr>
          <p:sp>
            <p:nvSpPr>
              <p:cNvPr id="337" name="Google Shape;337;p54"/>
              <p:cNvSpPr txBox="1"/>
              <p:nvPr/>
            </p:nvSpPr>
            <p:spPr>
              <a:xfrm>
                <a:off x="5613875" y="1806000"/>
                <a:ext cx="1644000" cy="65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3000">
                    <a:solidFill>
                      <a:srgbClr val="FFFFFF"/>
                    </a:solidFill>
                    <a:highlight>
                      <a:srgbClr val="4A86E8"/>
                    </a:highlight>
                    <a:latin typeface="Proxima Nova"/>
                    <a:ea typeface="Proxima Nova"/>
                    <a:cs typeface="Proxima Nova"/>
                    <a:sym typeface="Proxima Nova"/>
                  </a:rPr>
                  <a:t>C0271</a:t>
                </a:r>
                <a:endParaRPr sz="2700">
                  <a:solidFill>
                    <a:srgbClr val="FFFFFF"/>
                  </a:solidFill>
                  <a:highlight>
                    <a:srgbClr val="4A86E8"/>
                  </a:highlight>
                  <a:latin typeface="Proxima Nova"/>
                  <a:ea typeface="Proxima Nova"/>
                  <a:cs typeface="Proxima Nova"/>
                  <a:sym typeface="Proxima Nova"/>
                </a:endParaRPr>
              </a:p>
            </p:txBody>
          </p:sp>
          <p:grpSp>
            <p:nvGrpSpPr>
              <p:cNvPr id="338" name="Google Shape;338;p54"/>
              <p:cNvGrpSpPr/>
              <p:nvPr/>
            </p:nvGrpSpPr>
            <p:grpSpPr>
              <a:xfrm>
                <a:off x="5238837" y="2523150"/>
                <a:ext cx="2259963" cy="1506600"/>
                <a:chOff x="5238837" y="2523150"/>
                <a:chExt cx="2259963" cy="1506600"/>
              </a:xfrm>
            </p:grpSpPr>
            <p:sp>
              <p:nvSpPr>
                <p:cNvPr id="339" name="Google Shape;339;p54"/>
                <p:cNvSpPr txBox="1"/>
                <p:nvPr/>
              </p:nvSpPr>
              <p:spPr>
                <a:xfrm>
                  <a:off x="5238837" y="2523150"/>
                  <a:ext cx="942600" cy="1506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Prix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Durée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Extra :</a:t>
                  </a:r>
                  <a:endParaRPr b="1" sz="1700">
                    <a:solidFill>
                      <a:srgbClr val="666666"/>
                    </a:solidFill>
                    <a:latin typeface="Proxima Nova"/>
                    <a:ea typeface="Proxima Nova"/>
                    <a:cs typeface="Proxima Nova"/>
                    <a:sym typeface="Proxima Nova"/>
                  </a:endParaRPr>
                </a:p>
              </p:txBody>
            </p:sp>
            <p:sp>
              <p:nvSpPr>
                <p:cNvPr id="340" name="Google Shape;340;p54"/>
                <p:cNvSpPr txBox="1"/>
                <p:nvPr/>
              </p:nvSpPr>
              <p:spPr>
                <a:xfrm>
                  <a:off x="6102900" y="2523150"/>
                  <a:ext cx="1395900" cy="150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2400€ HT</a:t>
                  </a:r>
                  <a:endParaRPr b="1"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21h</a:t>
                  </a:r>
                  <a:endParaRPr b="1"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Repas offert</a:t>
                  </a:r>
                  <a:endParaRPr b="1" sz="1700">
                    <a:solidFill>
                      <a:srgbClr val="666666"/>
                    </a:solidFill>
                    <a:latin typeface="Proxima Nova"/>
                    <a:ea typeface="Proxima Nova"/>
                    <a:cs typeface="Proxima Nova"/>
                    <a:sym typeface="Proxima Nova"/>
                  </a:endParaRPr>
                </a:p>
              </p:txBody>
            </p:sp>
          </p:grpSp>
        </p:grpSp>
        <p:grpSp>
          <p:nvGrpSpPr>
            <p:cNvPr id="341" name="Google Shape;341;p54"/>
            <p:cNvGrpSpPr/>
            <p:nvPr/>
          </p:nvGrpSpPr>
          <p:grpSpPr>
            <a:xfrm>
              <a:off x="5023650" y="1466625"/>
              <a:ext cx="2292113" cy="2223750"/>
              <a:chOff x="5206687" y="1806000"/>
              <a:chExt cx="2292113" cy="2223750"/>
            </a:xfrm>
          </p:grpSpPr>
          <p:sp>
            <p:nvSpPr>
              <p:cNvPr id="342" name="Google Shape;342;p54"/>
              <p:cNvSpPr txBox="1"/>
              <p:nvPr/>
            </p:nvSpPr>
            <p:spPr>
              <a:xfrm>
                <a:off x="5613875" y="1806000"/>
                <a:ext cx="1644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3000">
                    <a:solidFill>
                      <a:srgbClr val="FFFFFF"/>
                    </a:solidFill>
                    <a:highlight>
                      <a:srgbClr val="4A86E8"/>
                    </a:highlight>
                    <a:latin typeface="Proxima Nova"/>
                    <a:ea typeface="Proxima Nova"/>
                    <a:cs typeface="Proxima Nova"/>
                    <a:sym typeface="Proxima Nova"/>
                  </a:rPr>
                  <a:t>C</a:t>
                </a:r>
                <a:r>
                  <a:rPr b="1" lang="fr" sz="3000">
                    <a:solidFill>
                      <a:srgbClr val="FFFFFF"/>
                    </a:solidFill>
                    <a:highlight>
                      <a:srgbClr val="4A86E8"/>
                    </a:highlight>
                    <a:latin typeface="Proxima Nova"/>
                    <a:ea typeface="Proxima Nova"/>
                    <a:cs typeface="Proxima Nova"/>
                    <a:sym typeface="Proxima Nova"/>
                  </a:rPr>
                  <a:t>Q</a:t>
                </a:r>
                <a:r>
                  <a:rPr b="1" lang="fr" sz="3000">
                    <a:solidFill>
                      <a:srgbClr val="FFFFFF"/>
                    </a:solidFill>
                    <a:highlight>
                      <a:srgbClr val="4A86E8"/>
                    </a:highlight>
                    <a:latin typeface="Proxima Nova"/>
                    <a:ea typeface="Proxima Nova"/>
                    <a:cs typeface="Proxima Nova"/>
                    <a:sym typeface="Proxima Nova"/>
                  </a:rPr>
                  <a:t>201</a:t>
                </a:r>
                <a:endParaRPr sz="2700">
                  <a:solidFill>
                    <a:srgbClr val="FFFFFF"/>
                  </a:solidFill>
                  <a:highlight>
                    <a:srgbClr val="4A86E8"/>
                  </a:highlight>
                  <a:latin typeface="Proxima Nova"/>
                  <a:ea typeface="Proxima Nova"/>
                  <a:cs typeface="Proxima Nova"/>
                  <a:sym typeface="Proxima Nova"/>
                </a:endParaRPr>
              </a:p>
            </p:txBody>
          </p:sp>
          <p:grpSp>
            <p:nvGrpSpPr>
              <p:cNvPr id="343" name="Google Shape;343;p54"/>
              <p:cNvGrpSpPr/>
              <p:nvPr/>
            </p:nvGrpSpPr>
            <p:grpSpPr>
              <a:xfrm>
                <a:off x="5206687" y="2523150"/>
                <a:ext cx="2292113" cy="1506600"/>
                <a:chOff x="5206687" y="2523150"/>
                <a:chExt cx="2292113" cy="1506600"/>
              </a:xfrm>
            </p:grpSpPr>
            <p:sp>
              <p:nvSpPr>
                <p:cNvPr id="344" name="Google Shape;344;p54"/>
                <p:cNvSpPr txBox="1"/>
                <p:nvPr/>
              </p:nvSpPr>
              <p:spPr>
                <a:xfrm>
                  <a:off x="5206687" y="2523150"/>
                  <a:ext cx="974700" cy="1506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Prix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Durée :</a:t>
                  </a:r>
                  <a:endParaRPr b="1"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r">
                    <a:spcBef>
                      <a:spcPts val="0"/>
                    </a:spcBef>
                    <a:spcAft>
                      <a:spcPts val="0"/>
                    </a:spcAft>
                    <a:buNone/>
                  </a:pPr>
                  <a:r>
                    <a:rPr lang="fr" sz="1700">
                      <a:solidFill>
                        <a:srgbClr val="666666"/>
                      </a:solidFill>
                      <a:latin typeface="Proxima Nova"/>
                      <a:ea typeface="Proxima Nova"/>
                      <a:cs typeface="Proxima Nova"/>
                      <a:sym typeface="Proxima Nova"/>
                    </a:rPr>
                    <a:t>Extra :</a:t>
                  </a:r>
                  <a:endParaRPr b="1" sz="1700">
                    <a:solidFill>
                      <a:srgbClr val="666666"/>
                    </a:solidFill>
                    <a:latin typeface="Proxima Nova"/>
                    <a:ea typeface="Proxima Nova"/>
                    <a:cs typeface="Proxima Nova"/>
                    <a:sym typeface="Proxima Nova"/>
                  </a:endParaRPr>
                </a:p>
              </p:txBody>
            </p:sp>
            <p:sp>
              <p:nvSpPr>
                <p:cNvPr id="345" name="Google Shape;345;p54"/>
                <p:cNvSpPr txBox="1"/>
                <p:nvPr/>
              </p:nvSpPr>
              <p:spPr>
                <a:xfrm>
                  <a:off x="6102900" y="2523150"/>
                  <a:ext cx="1395900" cy="150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125</a:t>
                  </a:r>
                  <a:r>
                    <a:rPr b="1" lang="fr" sz="1700">
                      <a:solidFill>
                        <a:srgbClr val="666666"/>
                      </a:solidFill>
                      <a:latin typeface="Proxima Nova"/>
                      <a:ea typeface="Proxima Nova"/>
                      <a:cs typeface="Proxima Nova"/>
                      <a:sym typeface="Proxima Nova"/>
                    </a:rPr>
                    <a:t>0€ HT</a:t>
                  </a:r>
                  <a:endParaRPr b="1"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14</a:t>
                  </a:r>
                  <a:r>
                    <a:rPr b="1" lang="fr" sz="1700">
                      <a:solidFill>
                        <a:srgbClr val="666666"/>
                      </a:solidFill>
                      <a:latin typeface="Proxima Nova"/>
                      <a:ea typeface="Proxima Nova"/>
                      <a:cs typeface="Proxima Nova"/>
                      <a:sym typeface="Proxima Nova"/>
                    </a:rPr>
                    <a:t>h</a:t>
                  </a:r>
                  <a:endParaRPr b="1"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666666"/>
                    </a:solidFill>
                    <a:latin typeface="Proxima Nova"/>
                    <a:ea typeface="Proxima Nova"/>
                    <a:cs typeface="Proxima Nova"/>
                    <a:sym typeface="Proxima Nova"/>
                  </a:endParaRPr>
                </a:p>
                <a:p>
                  <a:pPr indent="0" lvl="0" marL="0" rtl="0" algn="l">
                    <a:spcBef>
                      <a:spcPts val="0"/>
                    </a:spcBef>
                    <a:spcAft>
                      <a:spcPts val="0"/>
                    </a:spcAft>
                    <a:buNone/>
                  </a:pPr>
                  <a:r>
                    <a:rPr b="1" lang="fr" sz="1700">
                      <a:solidFill>
                        <a:srgbClr val="666666"/>
                      </a:solidFill>
                      <a:latin typeface="Proxima Nova"/>
                      <a:ea typeface="Proxima Nova"/>
                      <a:cs typeface="Proxima Nova"/>
                      <a:sym typeface="Proxima Nova"/>
                    </a:rPr>
                    <a:t>Repas offert</a:t>
                  </a:r>
                  <a:endParaRPr b="1" sz="1700">
                    <a:solidFill>
                      <a:srgbClr val="666666"/>
                    </a:solidFill>
                    <a:latin typeface="Proxima Nova"/>
                    <a:ea typeface="Proxima Nova"/>
                    <a:cs typeface="Proxima Nova"/>
                    <a:sym typeface="Proxima Nova"/>
                  </a:endParaRPr>
                </a:p>
              </p:txBody>
            </p:sp>
          </p:grpSp>
        </p:gr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Évaluations</a:t>
            </a:r>
            <a:r>
              <a:rPr lang="fr"/>
              <a:t> - </a:t>
            </a:r>
            <a:r>
              <a:rPr lang="fr">
                <a:solidFill>
                  <a:srgbClr val="4A86E8"/>
                </a:solidFill>
              </a:rPr>
              <a:t>C2E</a:t>
            </a:r>
            <a:endParaRPr>
              <a:solidFill>
                <a:srgbClr val="4A86E8"/>
              </a:solidFill>
            </a:endParaRPr>
          </a:p>
        </p:txBody>
      </p:sp>
      <p:sp>
        <p:nvSpPr>
          <p:cNvPr id="351" name="Google Shape;35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fr"/>
              <a:t>Auto évaluation</a:t>
            </a:r>
            <a:endParaRPr/>
          </a:p>
          <a:p>
            <a:pPr indent="-342900" lvl="0" marL="457200" rtl="0" algn="l">
              <a:lnSpc>
                <a:spcPct val="150000"/>
              </a:lnSpc>
              <a:spcBef>
                <a:spcPts val="0"/>
              </a:spcBef>
              <a:spcAft>
                <a:spcPts val="0"/>
              </a:spcAft>
              <a:buSzPts val="1800"/>
              <a:buChar char="●"/>
            </a:pPr>
            <a:r>
              <a:rPr lang="fr"/>
              <a:t>Actions d’amélioration RADAR</a:t>
            </a:r>
            <a:endParaRPr/>
          </a:p>
          <a:p>
            <a:pPr indent="-342900" lvl="0" marL="457200" rtl="0" algn="l">
              <a:lnSpc>
                <a:spcPct val="150000"/>
              </a:lnSpc>
              <a:spcBef>
                <a:spcPts val="0"/>
              </a:spcBef>
              <a:spcAft>
                <a:spcPts val="0"/>
              </a:spcAft>
              <a:buSzPts val="1800"/>
              <a:buChar char="●"/>
            </a:pPr>
            <a:r>
              <a:rPr lang="fr"/>
              <a:t>Evaluation externe</a:t>
            </a:r>
            <a:endParaRPr/>
          </a:p>
          <a:p>
            <a:pPr indent="-342900" lvl="0" marL="457200" rtl="0" algn="l">
              <a:lnSpc>
                <a:spcPct val="150000"/>
              </a:lnSpc>
              <a:spcBef>
                <a:spcPts val="0"/>
              </a:spcBef>
              <a:spcAft>
                <a:spcPts val="0"/>
              </a:spcAft>
              <a:buSzPts val="1800"/>
              <a:buChar char="●"/>
            </a:pPr>
            <a:r>
              <a:rPr lang="fr"/>
              <a:t>Retour et pistes d’amélioration</a:t>
            </a:r>
            <a:endParaRPr/>
          </a:p>
          <a:p>
            <a:pPr indent="-342900" lvl="0" marL="457200" rtl="0" algn="l">
              <a:lnSpc>
                <a:spcPct val="150000"/>
              </a:lnSpc>
              <a:spcBef>
                <a:spcPts val="0"/>
              </a:spcBef>
              <a:spcAft>
                <a:spcPts val="0"/>
              </a:spcAft>
              <a:buSzPts val="1800"/>
              <a:buChar char="●"/>
            </a:pPr>
            <a:r>
              <a:rPr lang="fr"/>
              <a:t>Rapport complet et diplôme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1"/>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1"/>
                                        <p:tgtEl>
                                          <p:spTgt spid="3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animEffect filter="fade" transition="in">
                                      <p:cBhvr>
                                        <p:cTn dur="1"/>
                                        <p:tgtEl>
                                          <p:spTgt spid="3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animEffect filter="fade" transition="in">
                                      <p:cBhvr>
                                        <p:cTn dur="1"/>
                                        <p:tgtEl>
                                          <p:spTgt spid="3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4" st="4"/>
                                            </p:txEl>
                                          </p:spTgt>
                                        </p:tgtEl>
                                        <p:attrNameLst>
                                          <p:attrName>style.visibility</p:attrName>
                                        </p:attrNameLst>
                                      </p:cBhvr>
                                      <p:to>
                                        <p:strVal val="visible"/>
                                      </p:to>
                                    </p:set>
                                    <p:animEffect filter="fade" transition="in">
                                      <p:cBhvr>
                                        <p:cTn dur="1"/>
                                        <p:tgtEl>
                                          <p:spTgt spid="3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Évaluations</a:t>
            </a:r>
            <a:r>
              <a:rPr lang="fr"/>
              <a:t> - </a:t>
            </a:r>
            <a:r>
              <a:rPr lang="fr">
                <a:solidFill>
                  <a:srgbClr val="4A86E8"/>
                </a:solidFill>
              </a:rPr>
              <a:t>E4E</a:t>
            </a:r>
            <a:endParaRPr>
              <a:solidFill>
                <a:srgbClr val="4A86E8"/>
              </a:solidFill>
            </a:endParaRPr>
          </a:p>
        </p:txBody>
      </p:sp>
      <p:sp>
        <p:nvSpPr>
          <p:cNvPr id="357" name="Google Shape;357;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fr"/>
              <a:t>Rédaction de la description du fonctionnement managérial de l’entreprise</a:t>
            </a:r>
            <a:endParaRPr/>
          </a:p>
          <a:p>
            <a:pPr indent="-342900" lvl="0" marL="457200" rtl="0" algn="l">
              <a:lnSpc>
                <a:spcPct val="150000"/>
              </a:lnSpc>
              <a:spcBef>
                <a:spcPts val="0"/>
              </a:spcBef>
              <a:spcAft>
                <a:spcPts val="0"/>
              </a:spcAft>
              <a:buSzPts val="1800"/>
              <a:buChar char="●"/>
            </a:pPr>
            <a:r>
              <a:rPr lang="fr"/>
              <a:t>Désignation du responsable</a:t>
            </a:r>
            <a:endParaRPr/>
          </a:p>
          <a:p>
            <a:pPr indent="-342900" lvl="0" marL="457200" rtl="0" algn="l">
              <a:lnSpc>
                <a:spcPct val="150000"/>
              </a:lnSpc>
              <a:spcBef>
                <a:spcPts val="0"/>
              </a:spcBef>
              <a:spcAft>
                <a:spcPts val="0"/>
              </a:spcAft>
              <a:buSzPts val="1800"/>
              <a:buChar char="●"/>
            </a:pPr>
            <a:r>
              <a:rPr lang="fr"/>
              <a:t>Interview par l’équipe d’évaluateurs</a:t>
            </a:r>
            <a:endParaRPr/>
          </a:p>
          <a:p>
            <a:pPr indent="-342900" lvl="0" marL="457200" rtl="0" algn="l">
              <a:lnSpc>
                <a:spcPct val="150000"/>
              </a:lnSpc>
              <a:spcBef>
                <a:spcPts val="0"/>
              </a:spcBef>
              <a:spcAft>
                <a:spcPts val="0"/>
              </a:spcAft>
              <a:buSzPts val="1800"/>
              <a:buChar char="●"/>
            </a:pPr>
            <a:r>
              <a:rPr lang="fr"/>
              <a:t>Réaction et Scores</a:t>
            </a:r>
            <a:endParaRPr/>
          </a:p>
          <a:p>
            <a:pPr indent="-342900" lvl="0" marL="457200" rtl="0" algn="l">
              <a:lnSpc>
                <a:spcPct val="150000"/>
              </a:lnSpc>
              <a:spcBef>
                <a:spcPts val="0"/>
              </a:spcBef>
              <a:spcAft>
                <a:spcPts val="0"/>
              </a:spcAft>
              <a:buSzPts val="1800"/>
              <a:buChar char="●"/>
            </a:pPr>
            <a:r>
              <a:rPr lang="fr"/>
              <a:t>Rapport final et certification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Effect filter="fade" transition="in">
                                      <p:cBhvr>
                                        <p:cTn dur="1"/>
                                        <p:tgtEl>
                                          <p:spTgt spid="3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Effect filter="fade" transition="in">
                                      <p:cBhvr>
                                        <p:cTn dur="1"/>
                                        <p:tgtEl>
                                          <p:spTgt spid="3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animEffect filter="fade" transition="in">
                                      <p:cBhvr>
                                        <p:cTn dur="1"/>
                                        <p:tgtEl>
                                          <p:spTgt spid="3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animEffect filter="fade" transition="in">
                                      <p:cBhvr>
                                        <p:cTn dur="1"/>
                                        <p:tgtEl>
                                          <p:spTgt spid="35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Valorisation</a:t>
            </a:r>
            <a:endParaRPr/>
          </a:p>
        </p:txBody>
      </p:sp>
      <p:pic>
        <p:nvPicPr>
          <p:cNvPr id="363" name="Google Shape;363;p57"/>
          <p:cNvPicPr preferRelativeResize="0"/>
          <p:nvPr/>
        </p:nvPicPr>
        <p:blipFill>
          <a:blip r:embed="rId3">
            <a:alphaModFix/>
          </a:blip>
          <a:stretch>
            <a:fillRect/>
          </a:stretch>
        </p:blipFill>
        <p:spPr>
          <a:xfrm>
            <a:off x="860850" y="2555163"/>
            <a:ext cx="2866400" cy="2149800"/>
          </a:xfrm>
          <a:prstGeom prst="rect">
            <a:avLst/>
          </a:prstGeom>
          <a:noFill/>
          <a:ln>
            <a:noFill/>
          </a:ln>
        </p:spPr>
      </p:pic>
      <p:pic>
        <p:nvPicPr>
          <p:cNvPr id="364" name="Google Shape;364;p57"/>
          <p:cNvPicPr preferRelativeResize="0"/>
          <p:nvPr/>
        </p:nvPicPr>
        <p:blipFill>
          <a:blip r:embed="rId4">
            <a:alphaModFix/>
          </a:blip>
          <a:stretch>
            <a:fillRect/>
          </a:stretch>
        </p:blipFill>
        <p:spPr>
          <a:xfrm>
            <a:off x="1361175" y="862337"/>
            <a:ext cx="2059725" cy="2059725"/>
          </a:xfrm>
          <a:prstGeom prst="rect">
            <a:avLst/>
          </a:prstGeom>
          <a:noFill/>
          <a:ln>
            <a:noFill/>
          </a:ln>
        </p:spPr>
      </p:pic>
      <p:pic>
        <p:nvPicPr>
          <p:cNvPr id="365" name="Google Shape;365;p57"/>
          <p:cNvPicPr preferRelativeResize="0"/>
          <p:nvPr/>
        </p:nvPicPr>
        <p:blipFill>
          <a:blip r:embed="rId5">
            <a:alphaModFix/>
          </a:blip>
          <a:stretch>
            <a:fillRect/>
          </a:stretch>
        </p:blipFill>
        <p:spPr>
          <a:xfrm>
            <a:off x="4681675" y="2921150"/>
            <a:ext cx="3032676" cy="1707625"/>
          </a:xfrm>
          <a:prstGeom prst="rect">
            <a:avLst/>
          </a:prstGeom>
          <a:noFill/>
          <a:ln>
            <a:noFill/>
          </a:ln>
        </p:spPr>
      </p:pic>
      <p:pic>
        <p:nvPicPr>
          <p:cNvPr id="366" name="Google Shape;366;p57"/>
          <p:cNvPicPr preferRelativeResize="0"/>
          <p:nvPr/>
        </p:nvPicPr>
        <p:blipFill>
          <a:blip r:embed="rId6">
            <a:alphaModFix/>
          </a:blip>
          <a:stretch>
            <a:fillRect/>
          </a:stretch>
        </p:blipFill>
        <p:spPr>
          <a:xfrm>
            <a:off x="3866525" y="1150475"/>
            <a:ext cx="4480876" cy="1557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8"/>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Conclusion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sz="3400"/>
              <a:t>Merci pour votre attention</a:t>
            </a:r>
            <a:endParaRPr sz="3400"/>
          </a:p>
        </p:txBody>
      </p:sp>
      <p:sp>
        <p:nvSpPr>
          <p:cNvPr id="377" name="Google Shape;377;p5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a:t>
            </a:r>
            <a:endParaRPr/>
          </a:p>
        </p:txBody>
      </p:sp>
      <p:sp>
        <p:nvSpPr>
          <p:cNvPr id="378" name="Google Shape;378;p5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Sources</a:t>
            </a:r>
            <a:endParaRPr/>
          </a:p>
          <a:p>
            <a:pPr indent="0" lvl="0" marL="0" rtl="0" algn="l">
              <a:spcBef>
                <a:spcPts val="1200"/>
              </a:spcBef>
              <a:spcAft>
                <a:spcPts val="0"/>
              </a:spcAft>
              <a:buNone/>
            </a:pPr>
            <a:r>
              <a:rPr lang="fr" sz="600" u="sng">
                <a:solidFill>
                  <a:srgbClr val="4A86E8"/>
                </a:solidFill>
                <a:latin typeface="Arial"/>
                <a:ea typeface="Arial"/>
                <a:cs typeface="Arial"/>
                <a:sym typeface="Arial"/>
                <a:hlinkClick r:id="rId3">
                  <a:extLst>
                    <a:ext uri="{A12FA001-AC4F-418D-AE19-62706E023703}">
                      <ahyp:hlinkClr val="tx"/>
                    </a:ext>
                  </a:extLst>
                </a:hlinkClick>
              </a:rPr>
              <a:t>https://fr.wikipedia.org/wiki/European_Foundation_for_Quality_Management</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4">
                  <a:extLst>
                    <a:ext uri="{A12FA001-AC4F-418D-AE19-62706E023703}">
                      <ahyp:hlinkClr val="tx"/>
                    </a:ext>
                  </a:extLst>
                </a:hlinkClick>
              </a:rPr>
              <a:t>https://www.afnor.org/actualites/efqm-comment-ca-marche/</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5">
                  <a:extLst>
                    <a:ext uri="{A12FA001-AC4F-418D-AE19-62706E023703}">
                      <ahyp:hlinkClr val="tx"/>
                    </a:ext>
                  </a:extLst>
                </a:hlinkClick>
              </a:rPr>
              <a:t>https://www.youtube.com/watch?v=gwLggvVTJoM&amp;t=2118s</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6">
                  <a:extLst>
                    <a:ext uri="{A12FA001-AC4F-418D-AE19-62706E023703}">
                      <ahyp:hlinkClr val="tx"/>
                    </a:ext>
                  </a:extLst>
                </a:hlinkClick>
              </a:rPr>
              <a:t>https://www.youtube.com/watch?v=OkqEL51spLc&amp;t=34s</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7">
                  <a:extLst>
                    <a:ext uri="{A12FA001-AC4F-418D-AE19-62706E023703}">
                      <ahyp:hlinkClr val="tx"/>
                    </a:ext>
                  </a:extLst>
                </a:hlinkClick>
              </a:rPr>
              <a:t>https://www.afnor.org/wp-content/uploads/2020/02/livre-efqm.pdf</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8">
                  <a:extLst>
                    <a:ext uri="{A12FA001-AC4F-418D-AE19-62706E023703}">
                      <ahyp:hlinkClr val="tx"/>
                    </a:ext>
                  </a:extLst>
                </a:hlinkClick>
              </a:rPr>
              <a:t>http://www.qualiteperformance.org/comprendre-la-qualite/referentiels-de-management-l-efqmr</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9">
                  <a:extLst>
                    <a:ext uri="{A12FA001-AC4F-418D-AE19-62706E023703}">
                      <ahyp:hlinkClr val="tx"/>
                    </a:ext>
                  </a:extLst>
                </a:hlinkClick>
              </a:rPr>
              <a:t>https://fr.wikipedia.org/wiki/R%C3%A9cession_du_d%C3%A9but_des_ann%C3%A9es_1980</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u="sng">
                <a:solidFill>
                  <a:srgbClr val="4A86E8"/>
                </a:solidFill>
                <a:latin typeface="Arial"/>
                <a:ea typeface="Arial"/>
                <a:cs typeface="Arial"/>
                <a:sym typeface="Arial"/>
                <a:hlinkClick r:id="rId10">
                  <a:extLst>
                    <a:ext uri="{A12FA001-AC4F-418D-AE19-62706E023703}">
                      <ahyp:hlinkClr val="tx"/>
                    </a:ext>
                  </a:extLst>
                </a:hlinkClick>
              </a:rPr>
              <a:t>https://www.efqm.org/about/</a:t>
            </a:r>
            <a:endParaRPr sz="600" u="sng">
              <a:solidFill>
                <a:srgbClr val="4A86E8"/>
              </a:solidFill>
              <a:latin typeface="Arial"/>
              <a:ea typeface="Arial"/>
              <a:cs typeface="Arial"/>
              <a:sym typeface="Arial"/>
            </a:endParaRPr>
          </a:p>
          <a:p>
            <a:pPr indent="0" lvl="0" marL="0" rtl="0" algn="l">
              <a:spcBef>
                <a:spcPts val="0"/>
              </a:spcBef>
              <a:spcAft>
                <a:spcPts val="0"/>
              </a:spcAft>
              <a:buNone/>
            </a:pPr>
            <a:r>
              <a:rPr lang="fr" sz="600">
                <a:solidFill>
                  <a:srgbClr val="FFFFFF"/>
                </a:solidFill>
                <a:latin typeface="Arial"/>
                <a:ea typeface="Arial"/>
                <a:cs typeface="Arial"/>
                <a:sym typeface="Arial"/>
              </a:rPr>
              <a:t>Brochure Rapport public 2020, Fondation EFQM</a:t>
            </a:r>
            <a:endParaRPr sz="600">
              <a:solidFill>
                <a:srgbClr val="FFFFFF"/>
              </a:solidFill>
              <a:latin typeface="Arial"/>
              <a:ea typeface="Arial"/>
              <a:cs typeface="Arial"/>
              <a:sym typeface="Arial"/>
            </a:endParaRPr>
          </a:p>
          <a:p>
            <a:pPr indent="0" lvl="0" marL="0" rtl="0" algn="l">
              <a:spcBef>
                <a:spcPts val="0"/>
              </a:spcBef>
              <a:spcAft>
                <a:spcPts val="1200"/>
              </a:spcAft>
              <a:buNone/>
            </a:pPr>
            <a:r>
              <a:t/>
            </a:r>
            <a:endParaRPr/>
          </a:p>
        </p:txBody>
      </p:sp>
      <p:sp>
        <p:nvSpPr>
          <p:cNvPr id="379" name="Google Shape;379;p59"/>
          <p:cNvSpPr txBox="1"/>
          <p:nvPr/>
        </p:nvSpPr>
        <p:spPr>
          <a:xfrm>
            <a:off x="6086400" y="4807025"/>
            <a:ext cx="3000000" cy="2769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fr" sz="600">
                <a:solidFill>
                  <a:srgbClr val="FFFFFF"/>
                </a:solidFill>
              </a:rPr>
              <a:t>avril 2021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u CRI">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